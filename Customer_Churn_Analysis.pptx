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Churn Rate by Contract Type (%)</a:t>
            </a:r>
          </a:p>
        </c:rich>
      </c:tx>
      <c:layout/>
      <c:overlay val="0"/>
    </c:title>
    <c:autoTitleDeleted val="0"/>
    <c:plotArea>
      <c:layout/>
      <c:barChart>
        <c:barDir val="bar"/>
        <c:grouping val="clustered"/>
        <c:varyColors val="0"/>
        <c:ser>
          <c:idx val="0"/>
          <c:order val="0"/>
          <c:tx>
            <c:strRef>
              <c:f>Sheet1!$B$1</c:f>
              <c:strCache>
                <c:ptCount val="1"/>
                <c:pt idx="0">
                  <c:v>Churn Rate %</c:v>
                </c:pt>
              </c:strCache>
            </c:strRef>
          </c:tx>
          <c:spPr>
            <a:solidFill>
              <a:srgbClr val="E53935"/>
            </a:solidFill>
            <a:effectLst/>
          </c:spPr>
          <c:invertIfNegative val="0"/>
          <c:dLbls>
            <c:numFmt formatCode="#,##0" sourceLinked="0"/>
            <c:txPr>
              <a:bodyPr/>
              <a:lstStyle/>
              <a:p>
                <a:pPr>
                  <a:defRPr b="0" i="0" strike="noStrike" sz="1200" u="none">
                    <a:solidFill>
                      <a:srgbClr val="1A237E"/>
                    </a:solidFill>
                    <a:latin typeface="Arial"/>
                  </a:defRPr>
                </a:pPr>
              </a:p>
            </c:txPr>
            <c:showLegendKey val="0"/>
            <c:showVal val="1"/>
            <c:showCatName val="0"/>
            <c:showSerName val="0"/>
            <c:showPercent val="0"/>
            <c:showBubbleSize val="0"/>
            <c:showLeaderLines val="0"/>
          </c:dLbls>
          <c:dPt>
            <c:idx val="0"/>
            <c:invertIfNegative val="0"/>
            <c:bubble3D val="0"/>
            <c:spPr>
              <a:solidFill>
                <a:srgbClr val="E53935"/>
              </a:solidFill>
              <a:effectLst/>
            </c:spPr>
          </c:dPt>
          <c:dPt>
            <c:idx val="1"/>
            <c:invertIfNegative val="0"/>
            <c:bubble3D val="0"/>
            <c:spPr>
              <a:solidFill>
                <a:srgbClr val="F57F17"/>
              </a:solidFill>
              <a:effectLst/>
            </c:spPr>
          </c:dPt>
          <c:dPt>
            <c:idx val="2"/>
            <c:invertIfNegative val="0"/>
            <c:bubble3D val="0"/>
            <c:spPr>
              <a:solidFill>
                <a:srgbClr val="2E7D32"/>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42.7</c:v>
                </c:pt>
                <c:pt idx="1">
                  <c:v>11.3</c:v>
                </c:pt>
                <c:pt idx="2">
                  <c:v>2.8</c:v>
                </c:pt>
              </c:numCache>
            </c:numRef>
          </c:val>
        </c:ser>
        <c:dLbls>
          <c:numFmt formatCode="#,##0" sourceLinked="0"/>
          <c:txPr>
            <a:bodyPr/>
            <a:lstStyle/>
            <a:p>
              <a:pPr>
                <a:defRPr b="0" i="0" strike="noStrike" sz="1200" u="none">
                  <a:solidFill>
                    <a:srgbClr val="1A237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0D7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CEFF1"/>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Churn Rate by Tenure Group (%)</a:t>
            </a:r>
          </a:p>
        </c:rich>
      </c:tx>
      <c:layout/>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E53935"/>
            </a:solidFill>
            <a:effectLst/>
          </c:spPr>
          <c:invertIfNegative val="0"/>
          <c:dLbls>
            <c:numFmt formatCode="#,##0" sourceLinked="0"/>
            <c:txPr>
              <a:bodyPr/>
              <a:lstStyle/>
              <a:p>
                <a:pPr>
                  <a:defRPr b="0" i="0" strike="noStrike" sz="1200" u="none">
                    <a:solidFill>
                      <a:srgbClr val="1A237E"/>
                    </a:solidFill>
                    <a:latin typeface="Arial"/>
                  </a:defRPr>
                </a:pPr>
              </a:p>
            </c:txPr>
            <c:showLegendKey val="0"/>
            <c:showVal val="1"/>
            <c:showCatName val="0"/>
            <c:showSerName val="0"/>
            <c:showPercent val="0"/>
            <c:showBubbleSize val="0"/>
            <c:showLeaderLines val="0"/>
          </c:dLbls>
          <c:dPt>
            <c:idx val="0"/>
            <c:invertIfNegative val="0"/>
            <c:bubble3D val="0"/>
            <c:spPr>
              <a:solidFill>
                <a:srgbClr val="E53935"/>
              </a:solidFill>
              <a:effectLst/>
            </c:spPr>
          </c:dPt>
          <c:dPt>
            <c:idx val="1"/>
            <c:invertIfNegative val="0"/>
            <c:bubble3D val="0"/>
            <c:spPr>
              <a:solidFill>
                <a:srgbClr val="F57F17"/>
              </a:solidFill>
              <a:effectLst/>
            </c:spPr>
          </c:dPt>
          <c:dPt>
            <c:idx val="2"/>
            <c:invertIfNegative val="0"/>
            <c:bubble3D val="0"/>
            <c:spPr>
              <a:solidFill>
                <a:srgbClr val="1565C0"/>
              </a:solidFill>
              <a:effectLst/>
            </c:spPr>
          </c:dPt>
          <c:dPt>
            <c:idx val="3"/>
            <c:invertIfNegative val="0"/>
            <c:bubble3D val="0"/>
            <c:spPr>
              <a:solidFill>
                <a:srgbClr val="2E7D32"/>
              </a:solidFill>
              <a:effectLst/>
            </c:spPr>
          </c:dPt>
          <c:cat>
            <c:multiLvlStrRef>
              <c:f>Sheet1!$A$2:$A$5</c:f>
              <c:multiLvlStrCache>
                <c:ptCount val="4"/>
                <c:lvl>
                  <c:pt idx="0">
                    <c:v>New (0-1yr)</c:v>
                  </c:pt>
                  <c:pt idx="1">
                    <c:v>Growing (1-2yr)</c:v>
                  </c:pt>
                  <c:pt idx="2">
                    <c:v>Mature (2-4yr)</c:v>
                  </c:pt>
                  <c:pt idx="3">
                    <c:v>Loyal (4+yr)</c:v>
                  </c:pt>
                </c:lvl>
              </c:multiLvlStrCache>
            </c:multiLvlStrRef>
          </c:cat>
          <c:val>
            <c:numRef>
              <c:f>Sheet1!$B$2:$B$5</c:f>
              <c:numCache>
                <c:formatCode>General</c:formatCode>
                <c:ptCount val="4"/>
                <c:pt idx="0">
                  <c:v>47.4</c:v>
                </c:pt>
                <c:pt idx="1">
                  <c:v>32.1</c:v>
                </c:pt>
                <c:pt idx="2">
                  <c:v>20.5</c:v>
                </c:pt>
                <c:pt idx="3">
                  <c:v>8.6</c:v>
                </c:pt>
              </c:numCache>
            </c:numRef>
          </c:val>
        </c:ser>
        <c:dLbls>
          <c:numFmt formatCode="#,##0" sourceLinked="0"/>
          <c:txPr>
            <a:bodyPr/>
            <a:lstStyle/>
            <a:p>
              <a:pPr>
                <a:defRPr b="0" i="0" strike="noStrike" sz="1200" u="none">
                  <a:solidFill>
                    <a:srgbClr val="1A237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0D7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D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CEFF1"/>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CD4"/>
          </a:solidFill>
          <a:ln w="12700">
            <a:solidFill>
              <a:srgbClr val="00BCD4"/>
            </a:solidFill>
            <a:prstDash val="solid"/>
          </a:ln>
        </p:spPr>
      </p:sp>
      <p:sp>
        <p:nvSpPr>
          <p:cNvPr id="3" name="Shape 1"/>
          <p:cNvSpPr/>
          <p:nvPr/>
        </p:nvSpPr>
        <p:spPr>
          <a:xfrm>
            <a:off x="164592" y="0"/>
            <a:ext cx="8979408" cy="54864"/>
          </a:xfrm>
          <a:prstGeom prst="rect">
            <a:avLst/>
          </a:prstGeom>
          <a:solidFill>
            <a:srgbClr val="1565C0"/>
          </a:solidFill>
          <a:ln w="12700">
            <a:solidFill>
              <a:srgbClr val="1565C0"/>
            </a:solidFill>
            <a:prstDash val="solid"/>
          </a:ln>
        </p:spPr>
      </p:sp>
      <p:sp>
        <p:nvSpPr>
          <p:cNvPr id="4" name="Text 2"/>
          <p:cNvSpPr/>
          <p:nvPr/>
        </p:nvSpPr>
        <p:spPr>
          <a:xfrm>
            <a:off x="502920" y="777240"/>
            <a:ext cx="8046720" cy="100584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Customer Churn Analysis</a:t>
            </a:r>
            <a:endParaRPr lang="en-US" sz="4200" dirty="0"/>
          </a:p>
        </p:txBody>
      </p:sp>
      <p:sp>
        <p:nvSpPr>
          <p:cNvPr id="5" name="Text 3"/>
          <p:cNvSpPr/>
          <p:nvPr/>
        </p:nvSpPr>
        <p:spPr>
          <a:xfrm>
            <a:off x="502920" y="1828800"/>
            <a:ext cx="6400800" cy="457200"/>
          </a:xfrm>
          <a:prstGeom prst="rect">
            <a:avLst/>
          </a:prstGeom>
          <a:noFill/>
          <a:ln/>
        </p:spPr>
        <p:txBody>
          <a:bodyPr wrap="square" lIns="0" tIns="0" rIns="0" bIns="0" rtlCol="0" anchor="ctr"/>
          <a:lstStyle/>
          <a:p>
            <a:pPr algn="l" indent="0" marL="0">
              <a:buNone/>
            </a:pPr>
            <a:r>
              <a:rPr lang="en-US" sz="2000" i="1" dirty="0">
                <a:solidFill>
                  <a:srgbClr val="00BCD4"/>
                </a:solidFill>
                <a:latin typeface="Calibri" pitchFamily="34" charset="0"/>
                <a:ea typeface="Calibri" pitchFamily="34" charset="-122"/>
                <a:cs typeface="Calibri" pitchFamily="34" charset="-120"/>
              </a:rPr>
              <a:t>A Data Analyst Portfolio Project</a:t>
            </a:r>
            <a:endParaRPr lang="en-US" sz="2000" dirty="0"/>
          </a:p>
        </p:txBody>
      </p:sp>
      <p:sp>
        <p:nvSpPr>
          <p:cNvPr id="6" name="Text 4"/>
          <p:cNvSpPr/>
          <p:nvPr/>
        </p:nvSpPr>
        <p:spPr>
          <a:xfrm>
            <a:off x="502920" y="2423160"/>
            <a:ext cx="6858000" cy="822960"/>
          </a:xfrm>
          <a:prstGeom prst="rect">
            <a:avLst/>
          </a:prstGeom>
          <a:noFill/>
          <a:ln/>
        </p:spPr>
        <p:txBody>
          <a:bodyPr wrap="square" lIns="0" tIns="0" rIns="0" bIns="0" rtlCol="0" anchor="ctr"/>
          <a:lstStyle/>
          <a:p>
            <a:pPr algn="l" indent="0" marL="0">
              <a:buNone/>
            </a:pPr>
            <a:r>
              <a:rPr lang="en-US" sz="1500" dirty="0">
                <a:solidFill>
                  <a:srgbClr val="B0BEC5"/>
                </a:solidFill>
                <a:latin typeface="Calibri" pitchFamily="34" charset="0"/>
                <a:ea typeface="Calibri" pitchFamily="34" charset="-122"/>
                <a:cs typeface="Calibri" pitchFamily="34" charset="-120"/>
              </a:rPr>
              <a:t>Identifying churn drivers, at-risk segments &amp; revenue impact</a:t>
            </a:r>
            <a:endParaRPr lang="en-US" sz="1500" dirty="0"/>
          </a:p>
          <a:p>
            <a:pPr algn="l" indent="0" marL="0">
              <a:buNone/>
            </a:pPr>
            <a:r>
              <a:rPr lang="en-US" sz="1500" dirty="0">
                <a:solidFill>
                  <a:srgbClr val="B0BEC5"/>
                </a:solidFill>
                <a:latin typeface="Calibri" pitchFamily="34" charset="0"/>
                <a:ea typeface="Calibri" pitchFamily="34" charset="-122"/>
                <a:cs typeface="Calibri" pitchFamily="34" charset="-120"/>
              </a:rPr>
              <a:t>using SQL · Python · Power BI</a:t>
            </a:r>
            <a:endParaRPr lang="en-US" sz="1500" dirty="0"/>
          </a:p>
        </p:txBody>
      </p:sp>
      <p:sp>
        <p:nvSpPr>
          <p:cNvPr id="7" name="Shape 5"/>
          <p:cNvSpPr/>
          <p:nvPr/>
        </p:nvSpPr>
        <p:spPr>
          <a:xfrm>
            <a:off x="164592" y="4754880"/>
            <a:ext cx="8979408" cy="54864"/>
          </a:xfrm>
          <a:prstGeom prst="rect">
            <a:avLst/>
          </a:prstGeom>
          <a:solidFill>
            <a:srgbClr val="1565C0"/>
          </a:solidFill>
          <a:ln w="12700">
            <a:solidFill>
              <a:srgbClr val="1565C0"/>
            </a:solidFill>
            <a:prstDash val="solid"/>
          </a:ln>
        </p:spPr>
      </p:sp>
      <p:sp>
        <p:nvSpPr>
          <p:cNvPr id="8" name="Text 6"/>
          <p:cNvSpPr/>
          <p:nvPr/>
        </p:nvSpPr>
        <p:spPr>
          <a:xfrm>
            <a:off x="502920" y="4800600"/>
            <a:ext cx="8229600" cy="274320"/>
          </a:xfrm>
          <a:prstGeom prst="rect">
            <a:avLst/>
          </a:prstGeom>
          <a:noFill/>
          <a:ln/>
        </p:spPr>
        <p:txBody>
          <a:bodyPr wrap="square" lIns="0" tIns="0" rIns="0" bIns="0" rtlCol="0" anchor="ctr"/>
          <a:lstStyle/>
          <a:p>
            <a:pPr algn="l" indent="0" marL="0">
              <a:buNone/>
            </a:pPr>
            <a:r>
              <a:rPr lang="en-US" sz="1100" dirty="0">
                <a:solidFill>
                  <a:srgbClr val="78909C"/>
                </a:solidFill>
                <a:latin typeface="Calibri" pitchFamily="34" charset="0"/>
                <a:ea typeface="Calibri" pitchFamily="34" charset="-122"/>
                <a:cs typeface="Calibri" pitchFamily="34" charset="-120"/>
              </a:rPr>
              <a:t>Tools: Python  |  SQL (SQLite)  |  Power BI  |  Dataset: IBM Telco (Kaggle)</a:t>
            </a:r>
            <a:endParaRPr lang="en-US" sz="1100" dirty="0"/>
          </a:p>
        </p:txBody>
      </p:sp>
      <p:sp>
        <p:nvSpPr>
          <p:cNvPr id="9" name="Shape 7"/>
          <p:cNvSpPr/>
          <p:nvPr/>
        </p:nvSpPr>
        <p:spPr>
          <a:xfrm>
            <a:off x="5669280" y="3246120"/>
            <a:ext cx="1051560" cy="1005840"/>
          </a:xfrm>
          <a:prstGeom prst="rect">
            <a:avLst/>
          </a:prstGeom>
          <a:solidFill>
            <a:srgbClr val="1565C0"/>
          </a:solidFill>
          <a:ln w="12700">
            <a:solidFill>
              <a:srgbClr val="00BCD4"/>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669280" y="3310128"/>
            <a:ext cx="1051560" cy="457200"/>
          </a:xfrm>
          <a:prstGeom prst="rect">
            <a:avLst/>
          </a:prstGeom>
          <a:noFill/>
          <a:ln/>
        </p:spPr>
        <p:txBody>
          <a:bodyPr wrap="square" lIns="0" tIns="0" rIns="0" bIns="0" rtlCol="0" anchor="ctr"/>
          <a:lstStyle/>
          <a:p>
            <a:pPr algn="ctr" indent="0" marL="0">
              <a:buNone/>
            </a:pPr>
            <a:r>
              <a:rPr lang="en-US" sz="2000" b="1" dirty="0">
                <a:solidFill>
                  <a:srgbClr val="00BCD4"/>
                </a:solidFill>
              </a:rPr>
              <a:t>7,043</a:t>
            </a:r>
            <a:endParaRPr lang="en-US" sz="2000" dirty="0"/>
          </a:p>
        </p:txBody>
      </p:sp>
      <p:sp>
        <p:nvSpPr>
          <p:cNvPr id="11" name="Text 9"/>
          <p:cNvSpPr/>
          <p:nvPr/>
        </p:nvSpPr>
        <p:spPr>
          <a:xfrm>
            <a:off x="5669280" y="3767328"/>
            <a:ext cx="1051560" cy="274320"/>
          </a:xfrm>
          <a:prstGeom prst="rect">
            <a:avLst/>
          </a:prstGeom>
          <a:noFill/>
          <a:ln/>
        </p:spPr>
        <p:txBody>
          <a:bodyPr wrap="square" lIns="0" tIns="0" rIns="0" bIns="0" rtlCol="0" anchor="ctr"/>
          <a:lstStyle/>
          <a:p>
            <a:pPr algn="ctr" indent="0" marL="0">
              <a:buNone/>
            </a:pPr>
            <a:r>
              <a:rPr lang="en-US" sz="1000" dirty="0">
                <a:solidFill>
                  <a:srgbClr val="FFFFFF"/>
                </a:solidFill>
              </a:rPr>
              <a:t>Customers</a:t>
            </a:r>
            <a:endParaRPr lang="en-US" sz="1000" dirty="0"/>
          </a:p>
        </p:txBody>
      </p:sp>
      <p:sp>
        <p:nvSpPr>
          <p:cNvPr id="12" name="Shape 10"/>
          <p:cNvSpPr/>
          <p:nvPr/>
        </p:nvSpPr>
        <p:spPr>
          <a:xfrm>
            <a:off x="6839712" y="3246120"/>
            <a:ext cx="1051560" cy="1005840"/>
          </a:xfrm>
          <a:prstGeom prst="rect">
            <a:avLst/>
          </a:prstGeom>
          <a:solidFill>
            <a:srgbClr val="1565C0"/>
          </a:solidFill>
          <a:ln w="12700">
            <a:solidFill>
              <a:srgbClr val="00BCD4"/>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6839712" y="3310128"/>
            <a:ext cx="1051560" cy="457200"/>
          </a:xfrm>
          <a:prstGeom prst="rect">
            <a:avLst/>
          </a:prstGeom>
          <a:noFill/>
          <a:ln/>
        </p:spPr>
        <p:txBody>
          <a:bodyPr wrap="square" lIns="0" tIns="0" rIns="0" bIns="0" rtlCol="0" anchor="ctr"/>
          <a:lstStyle/>
          <a:p>
            <a:pPr algn="ctr" indent="0" marL="0">
              <a:buNone/>
            </a:pPr>
            <a:r>
              <a:rPr lang="en-US" sz="2000" b="1" dirty="0">
                <a:solidFill>
                  <a:srgbClr val="00BCD4"/>
                </a:solidFill>
              </a:rPr>
              <a:t>21</a:t>
            </a:r>
            <a:endParaRPr lang="en-US" sz="2000" dirty="0"/>
          </a:p>
        </p:txBody>
      </p:sp>
      <p:sp>
        <p:nvSpPr>
          <p:cNvPr id="14" name="Text 12"/>
          <p:cNvSpPr/>
          <p:nvPr/>
        </p:nvSpPr>
        <p:spPr>
          <a:xfrm>
            <a:off x="6839712" y="3767328"/>
            <a:ext cx="1051560" cy="274320"/>
          </a:xfrm>
          <a:prstGeom prst="rect">
            <a:avLst/>
          </a:prstGeom>
          <a:noFill/>
          <a:ln/>
        </p:spPr>
        <p:txBody>
          <a:bodyPr wrap="square" lIns="0" tIns="0" rIns="0" bIns="0" rtlCol="0" anchor="ctr"/>
          <a:lstStyle/>
          <a:p>
            <a:pPr algn="ctr" indent="0" marL="0">
              <a:buNone/>
            </a:pPr>
            <a:r>
              <a:rPr lang="en-US" sz="1000" dirty="0">
                <a:solidFill>
                  <a:srgbClr val="FFFFFF"/>
                </a:solidFill>
              </a:rPr>
              <a:t>Data Fields</a:t>
            </a:r>
            <a:endParaRPr lang="en-US" sz="1000" dirty="0"/>
          </a:p>
        </p:txBody>
      </p:sp>
      <p:sp>
        <p:nvSpPr>
          <p:cNvPr id="15" name="Shape 13"/>
          <p:cNvSpPr/>
          <p:nvPr/>
        </p:nvSpPr>
        <p:spPr>
          <a:xfrm>
            <a:off x="8010144" y="3246120"/>
            <a:ext cx="1051560" cy="1005840"/>
          </a:xfrm>
          <a:prstGeom prst="rect">
            <a:avLst/>
          </a:prstGeom>
          <a:solidFill>
            <a:srgbClr val="1565C0"/>
          </a:solidFill>
          <a:ln w="12700">
            <a:solidFill>
              <a:srgbClr val="00BCD4"/>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8010144" y="3310128"/>
            <a:ext cx="1051560" cy="457200"/>
          </a:xfrm>
          <a:prstGeom prst="rect">
            <a:avLst/>
          </a:prstGeom>
          <a:noFill/>
          <a:ln/>
        </p:spPr>
        <p:txBody>
          <a:bodyPr wrap="square" lIns="0" tIns="0" rIns="0" bIns="0" rtlCol="0" anchor="ctr"/>
          <a:lstStyle/>
          <a:p>
            <a:pPr algn="ctr" indent="0" marL="0">
              <a:buNone/>
            </a:pPr>
            <a:r>
              <a:rPr lang="en-US" sz="2000" b="1" dirty="0">
                <a:solidFill>
                  <a:srgbClr val="00BCD4"/>
                </a:solidFill>
              </a:rPr>
              <a:t>26.5%</a:t>
            </a:r>
            <a:endParaRPr lang="en-US" sz="2000" dirty="0"/>
          </a:p>
        </p:txBody>
      </p:sp>
      <p:sp>
        <p:nvSpPr>
          <p:cNvPr id="17" name="Text 15"/>
          <p:cNvSpPr/>
          <p:nvPr/>
        </p:nvSpPr>
        <p:spPr>
          <a:xfrm>
            <a:off x="8010144" y="3767328"/>
            <a:ext cx="1051560" cy="274320"/>
          </a:xfrm>
          <a:prstGeom prst="rect">
            <a:avLst/>
          </a:prstGeom>
          <a:noFill/>
          <a:ln/>
        </p:spPr>
        <p:txBody>
          <a:bodyPr wrap="square" lIns="0" tIns="0" rIns="0" bIns="0" rtlCol="0" anchor="ctr"/>
          <a:lstStyle/>
          <a:p>
            <a:pPr algn="ctr" indent="0" marL="0">
              <a:buNone/>
            </a:pPr>
            <a:r>
              <a:rPr lang="en-US" sz="1000" dirty="0">
                <a:solidFill>
                  <a:srgbClr val="FFFFFF"/>
                </a:solidFill>
              </a:rPr>
              <a:t>Churn Rate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320040" y="868680"/>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68680"/>
            <a:ext cx="502920" cy="1170432"/>
          </a:xfrm>
          <a:prstGeom prst="rect">
            <a:avLst/>
          </a:prstGeom>
          <a:solidFill>
            <a:srgbClr val="0D1B2A"/>
          </a:solidFill>
          <a:ln w="12700">
            <a:solidFill>
              <a:srgbClr val="0D1B2A"/>
            </a:solidFill>
            <a:prstDash val="solid"/>
          </a:ln>
        </p:spPr>
      </p:sp>
      <p:sp>
        <p:nvSpPr>
          <p:cNvPr id="6" name="Text 4"/>
          <p:cNvSpPr/>
          <p:nvPr/>
        </p:nvSpPr>
        <p:spPr>
          <a:xfrm>
            <a:off x="320040" y="1188720"/>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01</a:t>
            </a:r>
            <a:endParaRPr lang="en-US" sz="1800" dirty="0"/>
          </a:p>
        </p:txBody>
      </p:sp>
      <p:sp>
        <p:nvSpPr>
          <p:cNvPr id="7" name="Text 5"/>
          <p:cNvSpPr/>
          <p:nvPr/>
        </p:nvSpPr>
        <p:spPr>
          <a:xfrm>
            <a:off x="914400" y="960120"/>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Business Requirements</a:t>
            </a:r>
            <a:endParaRPr lang="en-US" sz="1400" dirty="0"/>
          </a:p>
        </p:txBody>
      </p:sp>
      <p:sp>
        <p:nvSpPr>
          <p:cNvPr id="8" name="Text 6"/>
          <p:cNvSpPr/>
          <p:nvPr/>
        </p:nvSpPr>
        <p:spPr>
          <a:xfrm>
            <a:off x="914400" y="1344168"/>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Problem statement, objectives &amp; stakeholder goals</a:t>
            </a:r>
            <a:endParaRPr lang="en-US" sz="1100" dirty="0"/>
          </a:p>
        </p:txBody>
      </p:sp>
      <p:sp>
        <p:nvSpPr>
          <p:cNvPr id="9" name="Shape 7"/>
          <p:cNvSpPr/>
          <p:nvPr/>
        </p:nvSpPr>
        <p:spPr>
          <a:xfrm>
            <a:off x="4754880" y="868680"/>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54880" y="868680"/>
            <a:ext cx="502920" cy="1170432"/>
          </a:xfrm>
          <a:prstGeom prst="rect">
            <a:avLst/>
          </a:prstGeom>
          <a:solidFill>
            <a:srgbClr val="0D1B2A"/>
          </a:solidFill>
          <a:ln w="12700">
            <a:solidFill>
              <a:srgbClr val="0D1B2A"/>
            </a:solidFill>
            <a:prstDash val="solid"/>
          </a:ln>
        </p:spPr>
      </p:sp>
      <p:sp>
        <p:nvSpPr>
          <p:cNvPr id="11" name="Text 9"/>
          <p:cNvSpPr/>
          <p:nvPr/>
        </p:nvSpPr>
        <p:spPr>
          <a:xfrm>
            <a:off x="4754880" y="1188720"/>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02</a:t>
            </a:r>
            <a:endParaRPr lang="en-US" sz="1800" dirty="0"/>
          </a:p>
        </p:txBody>
      </p:sp>
      <p:sp>
        <p:nvSpPr>
          <p:cNvPr id="12" name="Text 10"/>
          <p:cNvSpPr/>
          <p:nvPr/>
        </p:nvSpPr>
        <p:spPr>
          <a:xfrm>
            <a:off x="5349240" y="960120"/>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Data &amp; Methodology</a:t>
            </a:r>
            <a:endParaRPr lang="en-US" sz="1400" dirty="0"/>
          </a:p>
        </p:txBody>
      </p:sp>
      <p:sp>
        <p:nvSpPr>
          <p:cNvPr id="13" name="Text 11"/>
          <p:cNvSpPr/>
          <p:nvPr/>
        </p:nvSpPr>
        <p:spPr>
          <a:xfrm>
            <a:off x="5349240" y="1344168"/>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Dataset source, tools used &amp; analytical approach</a:t>
            </a:r>
            <a:endParaRPr lang="en-US" sz="1100" dirty="0"/>
          </a:p>
        </p:txBody>
      </p:sp>
      <p:sp>
        <p:nvSpPr>
          <p:cNvPr id="14" name="Shape 12"/>
          <p:cNvSpPr/>
          <p:nvPr/>
        </p:nvSpPr>
        <p:spPr>
          <a:xfrm>
            <a:off x="320040" y="2221992"/>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20040" y="2221992"/>
            <a:ext cx="502920" cy="1170432"/>
          </a:xfrm>
          <a:prstGeom prst="rect">
            <a:avLst/>
          </a:prstGeom>
          <a:solidFill>
            <a:srgbClr val="0D1B2A"/>
          </a:solidFill>
          <a:ln w="12700">
            <a:solidFill>
              <a:srgbClr val="0D1B2A"/>
            </a:solidFill>
            <a:prstDash val="solid"/>
          </a:ln>
        </p:spPr>
      </p:sp>
      <p:sp>
        <p:nvSpPr>
          <p:cNvPr id="16" name="Text 14"/>
          <p:cNvSpPr/>
          <p:nvPr/>
        </p:nvSpPr>
        <p:spPr>
          <a:xfrm>
            <a:off x="320040" y="2542032"/>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03</a:t>
            </a:r>
            <a:endParaRPr lang="en-US" sz="1800" dirty="0"/>
          </a:p>
        </p:txBody>
      </p:sp>
      <p:sp>
        <p:nvSpPr>
          <p:cNvPr id="17" name="Text 15"/>
          <p:cNvSpPr/>
          <p:nvPr/>
        </p:nvSpPr>
        <p:spPr>
          <a:xfrm>
            <a:off x="914400" y="2313432"/>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Key Challenges</a:t>
            </a:r>
            <a:endParaRPr lang="en-US" sz="1400" dirty="0"/>
          </a:p>
        </p:txBody>
      </p:sp>
      <p:sp>
        <p:nvSpPr>
          <p:cNvPr id="18" name="Text 16"/>
          <p:cNvSpPr/>
          <p:nvPr/>
        </p:nvSpPr>
        <p:spPr>
          <a:xfrm>
            <a:off x="914400" y="2697480"/>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Data quality issues &amp; analytical hurdles overcome</a:t>
            </a:r>
            <a:endParaRPr lang="en-US" sz="1100" dirty="0"/>
          </a:p>
        </p:txBody>
      </p:sp>
      <p:sp>
        <p:nvSpPr>
          <p:cNvPr id="19" name="Shape 17"/>
          <p:cNvSpPr/>
          <p:nvPr/>
        </p:nvSpPr>
        <p:spPr>
          <a:xfrm>
            <a:off x="4754880" y="2221992"/>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754880" y="2221992"/>
            <a:ext cx="502920" cy="1170432"/>
          </a:xfrm>
          <a:prstGeom prst="rect">
            <a:avLst/>
          </a:prstGeom>
          <a:solidFill>
            <a:srgbClr val="0D1B2A"/>
          </a:solidFill>
          <a:ln w="12700">
            <a:solidFill>
              <a:srgbClr val="0D1B2A"/>
            </a:solidFill>
            <a:prstDash val="solid"/>
          </a:ln>
        </p:spPr>
      </p:sp>
      <p:sp>
        <p:nvSpPr>
          <p:cNvPr id="21" name="Text 19"/>
          <p:cNvSpPr/>
          <p:nvPr/>
        </p:nvSpPr>
        <p:spPr>
          <a:xfrm>
            <a:off x="4754880" y="2542032"/>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04</a:t>
            </a:r>
            <a:endParaRPr lang="en-US" sz="1800" dirty="0"/>
          </a:p>
        </p:txBody>
      </p:sp>
      <p:sp>
        <p:nvSpPr>
          <p:cNvPr id="22" name="Text 20"/>
          <p:cNvSpPr/>
          <p:nvPr/>
        </p:nvSpPr>
        <p:spPr>
          <a:xfrm>
            <a:off x="5349240" y="2313432"/>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Analysis &amp; Insights</a:t>
            </a:r>
            <a:endParaRPr lang="en-US" sz="1400" dirty="0"/>
          </a:p>
        </p:txBody>
      </p:sp>
      <p:sp>
        <p:nvSpPr>
          <p:cNvPr id="23" name="Text 21"/>
          <p:cNvSpPr/>
          <p:nvPr/>
        </p:nvSpPr>
        <p:spPr>
          <a:xfrm>
            <a:off x="5349240" y="2697480"/>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SQL queries, Python EDA, KPIs &amp; key findings</a:t>
            </a:r>
            <a:endParaRPr lang="en-US" sz="1100" dirty="0"/>
          </a:p>
        </p:txBody>
      </p:sp>
      <p:sp>
        <p:nvSpPr>
          <p:cNvPr id="24" name="Shape 22"/>
          <p:cNvSpPr/>
          <p:nvPr/>
        </p:nvSpPr>
        <p:spPr>
          <a:xfrm>
            <a:off x="320040" y="3575304"/>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320040" y="3575304"/>
            <a:ext cx="502920" cy="1170432"/>
          </a:xfrm>
          <a:prstGeom prst="rect">
            <a:avLst/>
          </a:prstGeom>
          <a:solidFill>
            <a:srgbClr val="0D1B2A"/>
          </a:solidFill>
          <a:ln w="12700">
            <a:solidFill>
              <a:srgbClr val="0D1B2A"/>
            </a:solidFill>
            <a:prstDash val="solid"/>
          </a:ln>
        </p:spPr>
      </p:sp>
      <p:sp>
        <p:nvSpPr>
          <p:cNvPr id="26" name="Text 24"/>
          <p:cNvSpPr/>
          <p:nvPr/>
        </p:nvSpPr>
        <p:spPr>
          <a:xfrm>
            <a:off x="320040" y="3895344"/>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05</a:t>
            </a:r>
            <a:endParaRPr lang="en-US" sz="1800" dirty="0"/>
          </a:p>
        </p:txBody>
      </p:sp>
      <p:sp>
        <p:nvSpPr>
          <p:cNvPr id="27" name="Text 25"/>
          <p:cNvSpPr/>
          <p:nvPr/>
        </p:nvSpPr>
        <p:spPr>
          <a:xfrm>
            <a:off x="914400" y="3666744"/>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Power BI Dashboard</a:t>
            </a:r>
            <a:endParaRPr lang="en-US" sz="1400" dirty="0"/>
          </a:p>
        </p:txBody>
      </p:sp>
      <p:sp>
        <p:nvSpPr>
          <p:cNvPr id="28" name="Text 26"/>
          <p:cNvSpPr/>
          <p:nvPr/>
        </p:nvSpPr>
        <p:spPr>
          <a:xfrm>
            <a:off x="914400" y="4050792"/>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Interactive visuals, DAX measures &amp; 4-page report</a:t>
            </a:r>
            <a:endParaRPr lang="en-US" sz="1100" dirty="0"/>
          </a:p>
        </p:txBody>
      </p:sp>
      <p:sp>
        <p:nvSpPr>
          <p:cNvPr id="29" name="Shape 27"/>
          <p:cNvSpPr/>
          <p:nvPr/>
        </p:nvSpPr>
        <p:spPr>
          <a:xfrm>
            <a:off x="4754880" y="3575304"/>
            <a:ext cx="4160520" cy="1170432"/>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4754880" y="3575304"/>
            <a:ext cx="502920" cy="1170432"/>
          </a:xfrm>
          <a:prstGeom prst="rect">
            <a:avLst/>
          </a:prstGeom>
          <a:solidFill>
            <a:srgbClr val="0D1B2A"/>
          </a:solidFill>
          <a:ln w="12700">
            <a:solidFill>
              <a:srgbClr val="0D1B2A"/>
            </a:solidFill>
            <a:prstDash val="solid"/>
          </a:ln>
        </p:spPr>
      </p:sp>
      <p:sp>
        <p:nvSpPr>
          <p:cNvPr id="31" name="Text 29"/>
          <p:cNvSpPr/>
          <p:nvPr/>
        </p:nvSpPr>
        <p:spPr>
          <a:xfrm>
            <a:off x="4754880" y="3895344"/>
            <a:ext cx="502920" cy="502920"/>
          </a:xfrm>
          <a:prstGeom prst="rect">
            <a:avLst/>
          </a:prstGeom>
          <a:noFill/>
          <a:ln/>
        </p:spPr>
        <p:txBody>
          <a:bodyPr wrap="square" lIns="0" tIns="0" rIns="0" bIns="0" rtlCol="0" anchor="ctr"/>
          <a:lstStyle/>
          <a:p>
            <a:pPr algn="ctr" indent="0" marL="0">
              <a:buNone/>
            </a:pPr>
            <a:r>
              <a:rPr lang="en-US" sz="1800" b="1" dirty="0">
                <a:solidFill>
                  <a:srgbClr val="00BCD4"/>
                </a:solidFill>
              </a:rPr>
              <a:t>06</a:t>
            </a:r>
            <a:endParaRPr lang="en-US" sz="1800" dirty="0"/>
          </a:p>
        </p:txBody>
      </p:sp>
      <p:sp>
        <p:nvSpPr>
          <p:cNvPr id="32" name="Text 30"/>
          <p:cNvSpPr/>
          <p:nvPr/>
        </p:nvSpPr>
        <p:spPr>
          <a:xfrm>
            <a:off x="5349240" y="3666744"/>
            <a:ext cx="3429000" cy="384048"/>
          </a:xfrm>
          <a:prstGeom prst="rect">
            <a:avLst/>
          </a:prstGeom>
          <a:noFill/>
          <a:ln/>
        </p:spPr>
        <p:txBody>
          <a:bodyPr wrap="square" lIns="0" tIns="0" rIns="0" bIns="0"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Business Recommendations</a:t>
            </a:r>
            <a:endParaRPr lang="en-US" sz="1400" dirty="0"/>
          </a:p>
        </p:txBody>
      </p:sp>
      <p:sp>
        <p:nvSpPr>
          <p:cNvPr id="33" name="Text 31"/>
          <p:cNvSpPr/>
          <p:nvPr/>
        </p:nvSpPr>
        <p:spPr>
          <a:xfrm>
            <a:off x="5349240" y="4050792"/>
            <a:ext cx="3429000" cy="566928"/>
          </a:xfrm>
          <a:prstGeom prst="rect">
            <a:avLst/>
          </a:prstGeom>
          <a:noFill/>
          <a:ln/>
        </p:spPr>
        <p:txBody>
          <a:bodyPr wrap="square" lIns="0" tIns="0" rIns="0" bIns="0" rtlCol="0" anchor="ctr"/>
          <a:lstStyle/>
          <a:p>
            <a:pPr indent="0" marL="0">
              <a:buNone/>
            </a:pPr>
            <a:r>
              <a:rPr lang="en-US" sz="1100" dirty="0">
                <a:solidFill>
                  <a:srgbClr val="607D8B"/>
                </a:solidFill>
                <a:latin typeface="Calibri" pitchFamily="34" charset="0"/>
                <a:ea typeface="Calibri" pitchFamily="34" charset="-122"/>
                <a:cs typeface="Calibri" pitchFamily="34" charset="-120"/>
              </a:rPr>
              <a:t>Actionable strategies to reduce churn &amp; protect revenue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01  |  Business Requirements</a:t>
            </a:r>
            <a:endParaRPr lang="en-US" sz="2400" dirty="0"/>
          </a:p>
        </p:txBody>
      </p:sp>
      <p:sp>
        <p:nvSpPr>
          <p:cNvPr id="4" name="Shape 2"/>
          <p:cNvSpPr/>
          <p:nvPr/>
        </p:nvSpPr>
        <p:spPr>
          <a:xfrm>
            <a:off x="320040" y="777240"/>
            <a:ext cx="8503920" cy="1005840"/>
          </a:xfrm>
          <a:prstGeom prst="rect">
            <a:avLst/>
          </a:prstGeom>
          <a:solidFill>
            <a:srgbClr val="FFF3E0"/>
          </a:solidFill>
          <a:ln w="12700">
            <a:solidFill>
              <a:srgbClr val="F57F17"/>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91440" cy="1005840"/>
          </a:xfrm>
          <a:prstGeom prst="rect">
            <a:avLst/>
          </a:prstGeom>
          <a:solidFill>
            <a:srgbClr val="F57F17"/>
          </a:solidFill>
          <a:ln w="12700">
            <a:solidFill>
              <a:srgbClr val="F57F17"/>
            </a:solidFill>
            <a:prstDash val="solid"/>
          </a:ln>
        </p:spPr>
      </p:sp>
      <p:sp>
        <p:nvSpPr>
          <p:cNvPr id="6" name="Text 4"/>
          <p:cNvSpPr/>
          <p:nvPr/>
        </p:nvSpPr>
        <p:spPr>
          <a:xfrm>
            <a:off x="502920" y="822960"/>
            <a:ext cx="2743200" cy="320040"/>
          </a:xfrm>
          <a:prstGeom prst="rect">
            <a:avLst/>
          </a:prstGeom>
          <a:noFill/>
          <a:ln/>
        </p:spPr>
        <p:txBody>
          <a:bodyPr wrap="square" lIns="0" tIns="0" rIns="0" bIns="0" rtlCol="0" anchor="ctr"/>
          <a:lstStyle/>
          <a:p>
            <a:pPr indent="0" marL="0">
              <a:buNone/>
            </a:pPr>
            <a:r>
              <a:rPr lang="en-US" sz="1300" b="1" dirty="0">
                <a:solidFill>
                  <a:srgbClr val="F57F17"/>
                </a:solidFill>
              </a:rPr>
              <a:t>Business Problem</a:t>
            </a:r>
            <a:endParaRPr lang="en-US" sz="1300" dirty="0"/>
          </a:p>
        </p:txBody>
      </p:sp>
      <p:sp>
        <p:nvSpPr>
          <p:cNvPr id="7" name="Text 5"/>
          <p:cNvSpPr/>
          <p:nvPr/>
        </p:nvSpPr>
        <p:spPr>
          <a:xfrm>
            <a:off x="502920" y="1143000"/>
            <a:ext cx="8229600" cy="566928"/>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A telecom company is experiencing high customer churn, resulting in significant monthly revenue loss. The business needs to understand WHO is leaving, WHY they are leaving, and WHICH customer segments are at highest financial risk — so the retention team can act before customers cancel.</a:t>
            </a:r>
            <a:endParaRPr lang="en-US" sz="1200" dirty="0"/>
          </a:p>
        </p:txBody>
      </p:sp>
      <p:sp>
        <p:nvSpPr>
          <p:cNvPr id="8" name="Shape 6"/>
          <p:cNvSpPr/>
          <p:nvPr/>
        </p:nvSpPr>
        <p:spPr>
          <a:xfrm>
            <a:off x="320040" y="1920240"/>
            <a:ext cx="2743200" cy="283464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320040" y="1920240"/>
            <a:ext cx="2743200" cy="411480"/>
          </a:xfrm>
          <a:prstGeom prst="rect">
            <a:avLst/>
          </a:prstGeom>
          <a:solidFill>
            <a:srgbClr val="1565C0"/>
          </a:solidFill>
          <a:ln w="12700">
            <a:solidFill>
              <a:srgbClr val="1565C0"/>
            </a:solidFill>
            <a:prstDash val="solid"/>
          </a:ln>
        </p:spPr>
      </p:sp>
      <p:sp>
        <p:nvSpPr>
          <p:cNvPr id="10" name="Text 8"/>
          <p:cNvSpPr/>
          <p:nvPr/>
        </p:nvSpPr>
        <p:spPr>
          <a:xfrm>
            <a:off x="411480" y="1938528"/>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Analytical Objectives</a:t>
            </a:r>
            <a:endParaRPr lang="en-US" sz="1200" dirty="0"/>
          </a:p>
        </p:txBody>
      </p:sp>
      <p:sp>
        <p:nvSpPr>
          <p:cNvPr id="11" name="Text 9"/>
          <p:cNvSpPr/>
          <p:nvPr/>
        </p:nvSpPr>
        <p:spPr>
          <a:xfrm>
            <a:off x="457200" y="2423160"/>
            <a:ext cx="2514600" cy="22402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Calculate overall churn rate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Identify churn by contract type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Analyze churn by tenure &amp; charges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Segment high-risk customers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Quantify revenue at risk</a:t>
            </a:r>
            <a:endParaRPr lang="en-US" sz="1100" dirty="0"/>
          </a:p>
        </p:txBody>
      </p:sp>
      <p:sp>
        <p:nvSpPr>
          <p:cNvPr id="12" name="Shape 10"/>
          <p:cNvSpPr/>
          <p:nvPr/>
        </p:nvSpPr>
        <p:spPr>
          <a:xfrm>
            <a:off x="3200400" y="1920240"/>
            <a:ext cx="2743200" cy="283464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00400" y="1920240"/>
            <a:ext cx="2743200" cy="411480"/>
          </a:xfrm>
          <a:prstGeom prst="rect">
            <a:avLst/>
          </a:prstGeom>
          <a:solidFill>
            <a:srgbClr val="2E7D32"/>
          </a:solidFill>
          <a:ln w="12700">
            <a:solidFill>
              <a:srgbClr val="2E7D32"/>
            </a:solidFill>
            <a:prstDash val="solid"/>
          </a:ln>
        </p:spPr>
      </p:sp>
      <p:sp>
        <p:nvSpPr>
          <p:cNvPr id="14" name="Text 12"/>
          <p:cNvSpPr/>
          <p:nvPr/>
        </p:nvSpPr>
        <p:spPr>
          <a:xfrm>
            <a:off x="3291840" y="1938528"/>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Stakeholder Questions</a:t>
            </a:r>
            <a:endParaRPr lang="en-US" sz="1200" dirty="0"/>
          </a:p>
        </p:txBody>
      </p:sp>
      <p:sp>
        <p:nvSpPr>
          <p:cNvPr id="15" name="Text 13"/>
          <p:cNvSpPr/>
          <p:nvPr/>
        </p:nvSpPr>
        <p:spPr>
          <a:xfrm>
            <a:off x="3337560" y="2423160"/>
            <a:ext cx="2514600" cy="22402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Which contract type churns most?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Do new customers churn faster?</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Is pricing driving churn?</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Which payment methods signal risk?</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How much revenue is at risk?</a:t>
            </a:r>
            <a:endParaRPr lang="en-US" sz="1100" dirty="0"/>
          </a:p>
        </p:txBody>
      </p:sp>
      <p:sp>
        <p:nvSpPr>
          <p:cNvPr id="16" name="Shape 14"/>
          <p:cNvSpPr/>
          <p:nvPr/>
        </p:nvSpPr>
        <p:spPr>
          <a:xfrm>
            <a:off x="6080760" y="1920240"/>
            <a:ext cx="2743200" cy="283464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080760" y="1920240"/>
            <a:ext cx="2743200" cy="411480"/>
          </a:xfrm>
          <a:prstGeom prst="rect">
            <a:avLst/>
          </a:prstGeom>
          <a:solidFill>
            <a:srgbClr val="00BCD4"/>
          </a:solidFill>
          <a:ln w="12700">
            <a:solidFill>
              <a:srgbClr val="00BCD4"/>
            </a:solidFill>
            <a:prstDash val="solid"/>
          </a:ln>
        </p:spPr>
      </p:sp>
      <p:sp>
        <p:nvSpPr>
          <p:cNvPr id="18" name="Text 16"/>
          <p:cNvSpPr/>
          <p:nvPr/>
        </p:nvSpPr>
        <p:spPr>
          <a:xfrm>
            <a:off x="6172200" y="1938528"/>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Deliverables</a:t>
            </a:r>
            <a:endParaRPr lang="en-US" sz="1200" dirty="0"/>
          </a:p>
        </p:txBody>
      </p:sp>
      <p:sp>
        <p:nvSpPr>
          <p:cNvPr id="19" name="Text 17"/>
          <p:cNvSpPr/>
          <p:nvPr/>
        </p:nvSpPr>
        <p:spPr>
          <a:xfrm>
            <a:off x="6217920" y="2423160"/>
            <a:ext cx="2514600" cy="22402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Cleaned &amp; engineered dataset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SQL business queries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Python EDA charts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Power BI dashboard (4 pages)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Business insights report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02  |  Data &amp; Methodology</a:t>
            </a:r>
            <a:endParaRPr lang="en-US" sz="2400" dirty="0"/>
          </a:p>
        </p:txBody>
      </p:sp>
      <p:sp>
        <p:nvSpPr>
          <p:cNvPr id="4" name="Shape 2"/>
          <p:cNvSpPr/>
          <p:nvPr/>
        </p:nvSpPr>
        <p:spPr>
          <a:xfrm>
            <a:off x="320040" y="777240"/>
            <a:ext cx="4160520" cy="1965960"/>
          </a:xfrm>
          <a:prstGeom prst="rect">
            <a:avLst/>
          </a:prstGeom>
          <a:solidFill>
            <a:srgbClr val="E3F2FD"/>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4160520" cy="384048"/>
          </a:xfrm>
          <a:prstGeom prst="rect">
            <a:avLst/>
          </a:prstGeom>
          <a:solidFill>
            <a:srgbClr val="1565C0"/>
          </a:solidFill>
          <a:ln w="12700">
            <a:solidFill>
              <a:srgbClr val="1565C0"/>
            </a:solidFill>
            <a:prstDash val="solid"/>
          </a:ln>
        </p:spPr>
      </p:sp>
      <p:sp>
        <p:nvSpPr>
          <p:cNvPr id="6" name="Text 4"/>
          <p:cNvSpPr/>
          <p:nvPr/>
        </p:nvSpPr>
        <p:spPr>
          <a:xfrm>
            <a:off x="411480" y="804672"/>
            <a:ext cx="3977640" cy="329184"/>
          </a:xfrm>
          <a:prstGeom prst="rect">
            <a:avLst/>
          </a:prstGeom>
          <a:noFill/>
          <a:ln/>
        </p:spPr>
        <p:txBody>
          <a:bodyPr wrap="square" lIns="0" tIns="0" rIns="0" bIns="0" rtlCol="0" anchor="ctr"/>
          <a:lstStyle/>
          <a:p>
            <a:pPr indent="0" marL="0">
              <a:buNone/>
            </a:pPr>
            <a:r>
              <a:rPr lang="en-US" sz="1200" b="1" dirty="0">
                <a:solidFill>
                  <a:srgbClr val="FFFFFF"/>
                </a:solidFill>
              </a:rPr>
              <a:t>Dataset — IBM Telco Customer Churn</a:t>
            </a:r>
            <a:endParaRPr lang="en-US" sz="1200" dirty="0"/>
          </a:p>
        </p:txBody>
      </p:sp>
      <p:sp>
        <p:nvSpPr>
          <p:cNvPr id="7" name="Text 5"/>
          <p:cNvSpPr/>
          <p:nvPr/>
        </p:nvSpPr>
        <p:spPr>
          <a:xfrm>
            <a:off x="411480" y="1252728"/>
            <a:ext cx="1005840" cy="256032"/>
          </a:xfrm>
          <a:prstGeom prst="rect">
            <a:avLst/>
          </a:prstGeom>
          <a:noFill/>
          <a:ln/>
        </p:spPr>
        <p:txBody>
          <a:bodyPr wrap="square" lIns="0" tIns="0" rIns="0" bIns="0" rtlCol="0" anchor="ctr"/>
          <a:lstStyle/>
          <a:p>
            <a:pPr indent="0" marL="0">
              <a:buNone/>
            </a:pPr>
            <a:r>
              <a:rPr lang="en-US" sz="1100" b="1" dirty="0">
                <a:solidFill>
                  <a:srgbClr val="1565C0"/>
                </a:solidFill>
              </a:rPr>
              <a:t>Source:</a:t>
            </a:r>
            <a:endParaRPr lang="en-US" sz="1100" dirty="0"/>
          </a:p>
        </p:txBody>
      </p:sp>
      <p:sp>
        <p:nvSpPr>
          <p:cNvPr id="8" name="Text 6"/>
          <p:cNvSpPr/>
          <p:nvPr/>
        </p:nvSpPr>
        <p:spPr>
          <a:xfrm>
            <a:off x="1417320" y="1252728"/>
            <a:ext cx="2926080" cy="256032"/>
          </a:xfrm>
          <a:prstGeom prst="rect">
            <a:avLst/>
          </a:prstGeom>
          <a:noFill/>
          <a:ln/>
        </p:spPr>
        <p:txBody>
          <a:bodyPr wrap="square" lIns="0" tIns="0" rIns="0" bIns="0" rtlCol="0" anchor="ctr"/>
          <a:lstStyle/>
          <a:p>
            <a:pPr indent="0" marL="0">
              <a:buNone/>
            </a:pPr>
            <a:r>
              <a:rPr lang="en-US" sz="1100" dirty="0">
                <a:solidFill>
                  <a:srgbClr val="0D1B2A"/>
                </a:solidFill>
              </a:rPr>
              <a:t>Kaggle (IBM Watson Analytics)</a:t>
            </a:r>
            <a:endParaRPr lang="en-US" sz="1100" dirty="0"/>
          </a:p>
        </p:txBody>
      </p:sp>
      <p:sp>
        <p:nvSpPr>
          <p:cNvPr id="9" name="Text 7"/>
          <p:cNvSpPr/>
          <p:nvPr/>
        </p:nvSpPr>
        <p:spPr>
          <a:xfrm>
            <a:off x="411480" y="1527048"/>
            <a:ext cx="1005840" cy="256032"/>
          </a:xfrm>
          <a:prstGeom prst="rect">
            <a:avLst/>
          </a:prstGeom>
          <a:noFill/>
          <a:ln/>
        </p:spPr>
        <p:txBody>
          <a:bodyPr wrap="square" lIns="0" tIns="0" rIns="0" bIns="0" rtlCol="0" anchor="ctr"/>
          <a:lstStyle/>
          <a:p>
            <a:pPr indent="0" marL="0">
              <a:buNone/>
            </a:pPr>
            <a:r>
              <a:rPr lang="en-US" sz="1100" b="1" dirty="0">
                <a:solidFill>
                  <a:srgbClr val="1565C0"/>
                </a:solidFill>
              </a:rPr>
              <a:t>Rows:</a:t>
            </a:r>
            <a:endParaRPr lang="en-US" sz="1100" dirty="0"/>
          </a:p>
        </p:txBody>
      </p:sp>
      <p:sp>
        <p:nvSpPr>
          <p:cNvPr id="10" name="Text 8"/>
          <p:cNvSpPr/>
          <p:nvPr/>
        </p:nvSpPr>
        <p:spPr>
          <a:xfrm>
            <a:off x="1417320" y="1527048"/>
            <a:ext cx="2926080" cy="256032"/>
          </a:xfrm>
          <a:prstGeom prst="rect">
            <a:avLst/>
          </a:prstGeom>
          <a:noFill/>
          <a:ln/>
        </p:spPr>
        <p:txBody>
          <a:bodyPr wrap="square" lIns="0" tIns="0" rIns="0" bIns="0" rtlCol="0" anchor="ctr"/>
          <a:lstStyle/>
          <a:p>
            <a:pPr indent="0" marL="0">
              <a:buNone/>
            </a:pPr>
            <a:r>
              <a:rPr lang="en-US" sz="1100" dirty="0">
                <a:solidFill>
                  <a:srgbClr val="0D1B2A"/>
                </a:solidFill>
              </a:rPr>
              <a:t>7,043 customer records</a:t>
            </a:r>
            <a:endParaRPr lang="en-US" sz="1100" dirty="0"/>
          </a:p>
        </p:txBody>
      </p:sp>
      <p:sp>
        <p:nvSpPr>
          <p:cNvPr id="11" name="Text 9"/>
          <p:cNvSpPr/>
          <p:nvPr/>
        </p:nvSpPr>
        <p:spPr>
          <a:xfrm>
            <a:off x="411480" y="1801368"/>
            <a:ext cx="1005840" cy="256032"/>
          </a:xfrm>
          <a:prstGeom prst="rect">
            <a:avLst/>
          </a:prstGeom>
          <a:noFill/>
          <a:ln/>
        </p:spPr>
        <p:txBody>
          <a:bodyPr wrap="square" lIns="0" tIns="0" rIns="0" bIns="0" rtlCol="0" anchor="ctr"/>
          <a:lstStyle/>
          <a:p>
            <a:pPr indent="0" marL="0">
              <a:buNone/>
            </a:pPr>
            <a:r>
              <a:rPr lang="en-US" sz="1100" b="1" dirty="0">
                <a:solidFill>
                  <a:srgbClr val="1565C0"/>
                </a:solidFill>
              </a:rPr>
              <a:t>Columns:</a:t>
            </a:r>
            <a:endParaRPr lang="en-US" sz="1100" dirty="0"/>
          </a:p>
        </p:txBody>
      </p:sp>
      <p:sp>
        <p:nvSpPr>
          <p:cNvPr id="12" name="Text 10"/>
          <p:cNvSpPr/>
          <p:nvPr/>
        </p:nvSpPr>
        <p:spPr>
          <a:xfrm>
            <a:off x="1417320" y="1801368"/>
            <a:ext cx="2926080" cy="256032"/>
          </a:xfrm>
          <a:prstGeom prst="rect">
            <a:avLst/>
          </a:prstGeom>
          <a:noFill/>
          <a:ln/>
        </p:spPr>
        <p:txBody>
          <a:bodyPr wrap="square" lIns="0" tIns="0" rIns="0" bIns="0" rtlCol="0" anchor="ctr"/>
          <a:lstStyle/>
          <a:p>
            <a:pPr indent="0" marL="0">
              <a:buNone/>
            </a:pPr>
            <a:r>
              <a:rPr lang="en-US" sz="1100" dirty="0">
                <a:solidFill>
                  <a:srgbClr val="0D1B2A"/>
                </a:solidFill>
              </a:rPr>
              <a:t>21 features</a:t>
            </a:r>
            <a:endParaRPr lang="en-US" sz="1100" dirty="0"/>
          </a:p>
        </p:txBody>
      </p:sp>
      <p:sp>
        <p:nvSpPr>
          <p:cNvPr id="13" name="Text 11"/>
          <p:cNvSpPr/>
          <p:nvPr/>
        </p:nvSpPr>
        <p:spPr>
          <a:xfrm>
            <a:off x="411480" y="2075688"/>
            <a:ext cx="1005840" cy="256032"/>
          </a:xfrm>
          <a:prstGeom prst="rect">
            <a:avLst/>
          </a:prstGeom>
          <a:noFill/>
          <a:ln/>
        </p:spPr>
        <p:txBody>
          <a:bodyPr wrap="square" lIns="0" tIns="0" rIns="0" bIns="0" rtlCol="0" anchor="ctr"/>
          <a:lstStyle/>
          <a:p>
            <a:pPr indent="0" marL="0">
              <a:buNone/>
            </a:pPr>
            <a:r>
              <a:rPr lang="en-US" sz="1100" b="1" dirty="0">
                <a:solidFill>
                  <a:srgbClr val="1565C0"/>
                </a:solidFill>
              </a:rPr>
              <a:t>Target:</a:t>
            </a:r>
            <a:endParaRPr lang="en-US" sz="1100" dirty="0"/>
          </a:p>
        </p:txBody>
      </p:sp>
      <p:sp>
        <p:nvSpPr>
          <p:cNvPr id="14" name="Text 12"/>
          <p:cNvSpPr/>
          <p:nvPr/>
        </p:nvSpPr>
        <p:spPr>
          <a:xfrm>
            <a:off x="1417320" y="2075688"/>
            <a:ext cx="2926080" cy="256032"/>
          </a:xfrm>
          <a:prstGeom prst="rect">
            <a:avLst/>
          </a:prstGeom>
          <a:noFill/>
          <a:ln/>
        </p:spPr>
        <p:txBody>
          <a:bodyPr wrap="square" lIns="0" tIns="0" rIns="0" bIns="0" rtlCol="0" anchor="ctr"/>
          <a:lstStyle/>
          <a:p>
            <a:pPr indent="0" marL="0">
              <a:buNone/>
            </a:pPr>
            <a:r>
              <a:rPr lang="en-US" sz="1100" dirty="0">
                <a:solidFill>
                  <a:srgbClr val="0D1B2A"/>
                </a:solidFill>
              </a:rPr>
              <a:t>Churn (Yes / No)</a:t>
            </a:r>
            <a:endParaRPr lang="en-US" sz="1100" dirty="0"/>
          </a:p>
        </p:txBody>
      </p:sp>
      <p:sp>
        <p:nvSpPr>
          <p:cNvPr id="15" name="Text 13"/>
          <p:cNvSpPr/>
          <p:nvPr/>
        </p:nvSpPr>
        <p:spPr>
          <a:xfrm>
            <a:off x="411480" y="2350008"/>
            <a:ext cx="1005840" cy="256032"/>
          </a:xfrm>
          <a:prstGeom prst="rect">
            <a:avLst/>
          </a:prstGeom>
          <a:noFill/>
          <a:ln/>
        </p:spPr>
        <p:txBody>
          <a:bodyPr wrap="square" lIns="0" tIns="0" rIns="0" bIns="0" rtlCol="0" anchor="ctr"/>
          <a:lstStyle/>
          <a:p>
            <a:pPr indent="0" marL="0">
              <a:buNone/>
            </a:pPr>
            <a:r>
              <a:rPr lang="en-US" sz="1100" b="1" dirty="0">
                <a:solidFill>
                  <a:srgbClr val="1565C0"/>
                </a:solidFill>
              </a:rPr>
              <a:t>Key Fields:</a:t>
            </a:r>
            <a:endParaRPr lang="en-US" sz="1100" dirty="0"/>
          </a:p>
        </p:txBody>
      </p:sp>
      <p:sp>
        <p:nvSpPr>
          <p:cNvPr id="16" name="Text 14"/>
          <p:cNvSpPr/>
          <p:nvPr/>
        </p:nvSpPr>
        <p:spPr>
          <a:xfrm>
            <a:off x="1417320" y="2350008"/>
            <a:ext cx="2926080" cy="256032"/>
          </a:xfrm>
          <a:prstGeom prst="rect">
            <a:avLst/>
          </a:prstGeom>
          <a:noFill/>
          <a:ln/>
        </p:spPr>
        <p:txBody>
          <a:bodyPr wrap="square" lIns="0" tIns="0" rIns="0" bIns="0" rtlCol="0" anchor="ctr"/>
          <a:lstStyle/>
          <a:p>
            <a:pPr indent="0" marL="0">
              <a:buNone/>
            </a:pPr>
            <a:r>
              <a:rPr lang="en-US" sz="1100" dirty="0">
                <a:solidFill>
                  <a:srgbClr val="0D1B2A"/>
                </a:solidFill>
              </a:rPr>
              <a:t>Tenure, Contract, MonthlyCharges, TotalCharges, InternetService, PaymentMethod</a:t>
            </a:r>
            <a:endParaRPr lang="en-US" sz="1100" dirty="0"/>
          </a:p>
        </p:txBody>
      </p:sp>
      <p:sp>
        <p:nvSpPr>
          <p:cNvPr id="17" name="Shape 15"/>
          <p:cNvSpPr/>
          <p:nvPr/>
        </p:nvSpPr>
        <p:spPr>
          <a:xfrm>
            <a:off x="4663440" y="777240"/>
            <a:ext cx="4160520" cy="19659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663440" y="777240"/>
            <a:ext cx="4160520" cy="384048"/>
          </a:xfrm>
          <a:prstGeom prst="rect">
            <a:avLst/>
          </a:prstGeom>
          <a:solidFill>
            <a:srgbClr val="0D1B2A"/>
          </a:solidFill>
          <a:ln w="12700">
            <a:solidFill>
              <a:srgbClr val="0D1B2A"/>
            </a:solidFill>
            <a:prstDash val="solid"/>
          </a:ln>
        </p:spPr>
      </p:sp>
      <p:sp>
        <p:nvSpPr>
          <p:cNvPr id="19" name="Text 17"/>
          <p:cNvSpPr/>
          <p:nvPr/>
        </p:nvSpPr>
        <p:spPr>
          <a:xfrm>
            <a:off x="4754880" y="804672"/>
            <a:ext cx="3977640" cy="329184"/>
          </a:xfrm>
          <a:prstGeom prst="rect">
            <a:avLst/>
          </a:prstGeom>
          <a:noFill/>
          <a:ln/>
        </p:spPr>
        <p:txBody>
          <a:bodyPr wrap="square" lIns="0" tIns="0" rIns="0" bIns="0" rtlCol="0" anchor="ctr"/>
          <a:lstStyle/>
          <a:p>
            <a:pPr indent="0" marL="0">
              <a:buNone/>
            </a:pPr>
            <a:r>
              <a:rPr lang="en-US" sz="1200" b="1" dirty="0">
                <a:solidFill>
                  <a:srgbClr val="FFFFFF"/>
                </a:solidFill>
              </a:rPr>
              <a:t>Tools &amp; Technologies</a:t>
            </a:r>
            <a:endParaRPr lang="en-US" sz="1200" dirty="0"/>
          </a:p>
        </p:txBody>
      </p:sp>
      <p:sp>
        <p:nvSpPr>
          <p:cNvPr id="20" name="Text 18"/>
          <p:cNvSpPr/>
          <p:nvPr/>
        </p:nvSpPr>
        <p:spPr>
          <a:xfrm>
            <a:off x="4754880" y="1252728"/>
            <a:ext cx="1645920" cy="256032"/>
          </a:xfrm>
          <a:prstGeom prst="rect">
            <a:avLst/>
          </a:prstGeom>
          <a:noFill/>
          <a:ln/>
        </p:spPr>
        <p:txBody>
          <a:bodyPr wrap="square" lIns="0" tIns="0" rIns="0" bIns="0" rtlCol="0" anchor="ctr"/>
          <a:lstStyle/>
          <a:p>
            <a:pPr indent="0" marL="0">
              <a:buNone/>
            </a:pPr>
            <a:r>
              <a:rPr lang="en-US" sz="1100" b="1" dirty="0">
                <a:solidFill>
                  <a:srgbClr val="0D1B2A"/>
                </a:solidFill>
              </a:rPr>
              <a:t>Python (Pandas):</a:t>
            </a:r>
            <a:endParaRPr lang="en-US" sz="1100" dirty="0"/>
          </a:p>
        </p:txBody>
      </p:sp>
      <p:sp>
        <p:nvSpPr>
          <p:cNvPr id="21" name="Text 19"/>
          <p:cNvSpPr/>
          <p:nvPr/>
        </p:nvSpPr>
        <p:spPr>
          <a:xfrm>
            <a:off x="6400800" y="1252728"/>
            <a:ext cx="2331720" cy="256032"/>
          </a:xfrm>
          <a:prstGeom prst="rect">
            <a:avLst/>
          </a:prstGeom>
          <a:noFill/>
          <a:ln/>
        </p:spPr>
        <p:txBody>
          <a:bodyPr wrap="square" lIns="0" tIns="0" rIns="0" bIns="0" rtlCol="0" anchor="ctr"/>
          <a:lstStyle/>
          <a:p>
            <a:pPr indent="0" marL="0">
              <a:buNone/>
            </a:pPr>
            <a:r>
              <a:rPr lang="en-US" sz="1100" dirty="0">
                <a:solidFill>
                  <a:srgbClr val="607D8B"/>
                </a:solidFill>
              </a:rPr>
              <a:t>Data cleaning, feature engineering, EDA</a:t>
            </a:r>
            <a:endParaRPr lang="en-US" sz="1100" dirty="0"/>
          </a:p>
        </p:txBody>
      </p:sp>
      <p:sp>
        <p:nvSpPr>
          <p:cNvPr id="22" name="Text 20"/>
          <p:cNvSpPr/>
          <p:nvPr/>
        </p:nvSpPr>
        <p:spPr>
          <a:xfrm>
            <a:off x="4754880" y="1527048"/>
            <a:ext cx="1645920" cy="256032"/>
          </a:xfrm>
          <a:prstGeom prst="rect">
            <a:avLst/>
          </a:prstGeom>
          <a:noFill/>
          <a:ln/>
        </p:spPr>
        <p:txBody>
          <a:bodyPr wrap="square" lIns="0" tIns="0" rIns="0" bIns="0" rtlCol="0" anchor="ctr"/>
          <a:lstStyle/>
          <a:p>
            <a:pPr indent="0" marL="0">
              <a:buNone/>
            </a:pPr>
            <a:r>
              <a:rPr lang="en-US" sz="1100" b="1" dirty="0">
                <a:solidFill>
                  <a:srgbClr val="0D1B2A"/>
                </a:solidFill>
              </a:rPr>
              <a:t>SQL (SQLite):</a:t>
            </a:r>
            <a:endParaRPr lang="en-US" sz="1100" dirty="0"/>
          </a:p>
        </p:txBody>
      </p:sp>
      <p:sp>
        <p:nvSpPr>
          <p:cNvPr id="23" name="Text 21"/>
          <p:cNvSpPr/>
          <p:nvPr/>
        </p:nvSpPr>
        <p:spPr>
          <a:xfrm>
            <a:off x="6400800" y="1527048"/>
            <a:ext cx="2331720" cy="256032"/>
          </a:xfrm>
          <a:prstGeom prst="rect">
            <a:avLst/>
          </a:prstGeom>
          <a:noFill/>
          <a:ln/>
        </p:spPr>
        <p:txBody>
          <a:bodyPr wrap="square" lIns="0" tIns="0" rIns="0" bIns="0" rtlCol="0" anchor="ctr"/>
          <a:lstStyle/>
          <a:p>
            <a:pPr indent="0" marL="0">
              <a:buNone/>
            </a:pPr>
            <a:r>
              <a:rPr lang="en-US" sz="1100" dirty="0">
                <a:solidFill>
                  <a:srgbClr val="607D8B"/>
                </a:solidFill>
              </a:rPr>
              <a:t>Business queries, segmentation, KPIs</a:t>
            </a:r>
            <a:endParaRPr lang="en-US" sz="1100" dirty="0"/>
          </a:p>
        </p:txBody>
      </p:sp>
      <p:sp>
        <p:nvSpPr>
          <p:cNvPr id="24" name="Text 22"/>
          <p:cNvSpPr/>
          <p:nvPr/>
        </p:nvSpPr>
        <p:spPr>
          <a:xfrm>
            <a:off x="4754880" y="1801368"/>
            <a:ext cx="1645920" cy="256032"/>
          </a:xfrm>
          <a:prstGeom prst="rect">
            <a:avLst/>
          </a:prstGeom>
          <a:noFill/>
          <a:ln/>
        </p:spPr>
        <p:txBody>
          <a:bodyPr wrap="square" lIns="0" tIns="0" rIns="0" bIns="0" rtlCol="0" anchor="ctr"/>
          <a:lstStyle/>
          <a:p>
            <a:pPr indent="0" marL="0">
              <a:buNone/>
            </a:pPr>
            <a:r>
              <a:rPr lang="en-US" sz="1100" b="1" dirty="0">
                <a:solidFill>
                  <a:srgbClr val="0D1B2A"/>
                </a:solidFill>
              </a:rPr>
              <a:t>Matplotlib/Seaborn:</a:t>
            </a:r>
            <a:endParaRPr lang="en-US" sz="1100" dirty="0"/>
          </a:p>
        </p:txBody>
      </p:sp>
      <p:sp>
        <p:nvSpPr>
          <p:cNvPr id="25" name="Text 23"/>
          <p:cNvSpPr/>
          <p:nvPr/>
        </p:nvSpPr>
        <p:spPr>
          <a:xfrm>
            <a:off x="6400800" y="1801368"/>
            <a:ext cx="2331720" cy="256032"/>
          </a:xfrm>
          <a:prstGeom prst="rect">
            <a:avLst/>
          </a:prstGeom>
          <a:noFill/>
          <a:ln/>
        </p:spPr>
        <p:txBody>
          <a:bodyPr wrap="square" lIns="0" tIns="0" rIns="0" bIns="0" rtlCol="0" anchor="ctr"/>
          <a:lstStyle/>
          <a:p>
            <a:pPr indent="0" marL="0">
              <a:buNone/>
            </a:pPr>
            <a:r>
              <a:rPr lang="en-US" sz="1100" dirty="0">
                <a:solidFill>
                  <a:srgbClr val="607D8B"/>
                </a:solidFill>
              </a:rPr>
              <a:t>Trend charts, distributions, heatmaps</a:t>
            </a:r>
            <a:endParaRPr lang="en-US" sz="1100" dirty="0"/>
          </a:p>
        </p:txBody>
      </p:sp>
      <p:sp>
        <p:nvSpPr>
          <p:cNvPr id="26" name="Text 24"/>
          <p:cNvSpPr/>
          <p:nvPr/>
        </p:nvSpPr>
        <p:spPr>
          <a:xfrm>
            <a:off x="4754880" y="2075688"/>
            <a:ext cx="1645920" cy="256032"/>
          </a:xfrm>
          <a:prstGeom prst="rect">
            <a:avLst/>
          </a:prstGeom>
          <a:noFill/>
          <a:ln/>
        </p:spPr>
        <p:txBody>
          <a:bodyPr wrap="square" lIns="0" tIns="0" rIns="0" bIns="0" rtlCol="0" anchor="ctr"/>
          <a:lstStyle/>
          <a:p>
            <a:pPr indent="0" marL="0">
              <a:buNone/>
            </a:pPr>
            <a:r>
              <a:rPr lang="en-US" sz="1100" b="1" dirty="0">
                <a:solidFill>
                  <a:srgbClr val="0D1B2A"/>
                </a:solidFill>
              </a:rPr>
              <a:t>Power BI:</a:t>
            </a:r>
            <a:endParaRPr lang="en-US" sz="1100" dirty="0"/>
          </a:p>
        </p:txBody>
      </p:sp>
      <p:sp>
        <p:nvSpPr>
          <p:cNvPr id="27" name="Text 25"/>
          <p:cNvSpPr/>
          <p:nvPr/>
        </p:nvSpPr>
        <p:spPr>
          <a:xfrm>
            <a:off x="6400800" y="2075688"/>
            <a:ext cx="2331720" cy="256032"/>
          </a:xfrm>
          <a:prstGeom prst="rect">
            <a:avLst/>
          </a:prstGeom>
          <a:noFill/>
          <a:ln/>
        </p:spPr>
        <p:txBody>
          <a:bodyPr wrap="square" lIns="0" tIns="0" rIns="0" bIns="0" rtlCol="0" anchor="ctr"/>
          <a:lstStyle/>
          <a:p>
            <a:pPr indent="0" marL="0">
              <a:buNone/>
            </a:pPr>
            <a:r>
              <a:rPr lang="en-US" sz="1100" dirty="0">
                <a:solidFill>
                  <a:srgbClr val="607D8B"/>
                </a:solidFill>
              </a:rPr>
              <a:t>Interactive dashboard, DAX measures</a:t>
            </a:r>
            <a:endParaRPr lang="en-US" sz="1100" dirty="0"/>
          </a:p>
        </p:txBody>
      </p:sp>
      <p:sp>
        <p:nvSpPr>
          <p:cNvPr id="28" name="Text 26"/>
          <p:cNvSpPr/>
          <p:nvPr/>
        </p:nvSpPr>
        <p:spPr>
          <a:xfrm>
            <a:off x="4754880" y="2350008"/>
            <a:ext cx="1645920" cy="256032"/>
          </a:xfrm>
          <a:prstGeom prst="rect">
            <a:avLst/>
          </a:prstGeom>
          <a:noFill/>
          <a:ln/>
        </p:spPr>
        <p:txBody>
          <a:bodyPr wrap="square" lIns="0" tIns="0" rIns="0" bIns="0" rtlCol="0" anchor="ctr"/>
          <a:lstStyle/>
          <a:p>
            <a:pPr indent="0" marL="0">
              <a:buNone/>
            </a:pPr>
            <a:r>
              <a:rPr lang="en-US" sz="1100" b="1" dirty="0">
                <a:solidFill>
                  <a:srgbClr val="0D1B2A"/>
                </a:solidFill>
              </a:rPr>
              <a:t>Kaggle:</a:t>
            </a:r>
            <a:endParaRPr lang="en-US" sz="1100" dirty="0"/>
          </a:p>
        </p:txBody>
      </p:sp>
      <p:sp>
        <p:nvSpPr>
          <p:cNvPr id="29" name="Text 27"/>
          <p:cNvSpPr/>
          <p:nvPr/>
        </p:nvSpPr>
        <p:spPr>
          <a:xfrm>
            <a:off x="6400800" y="2350008"/>
            <a:ext cx="2331720" cy="256032"/>
          </a:xfrm>
          <a:prstGeom prst="rect">
            <a:avLst/>
          </a:prstGeom>
          <a:noFill/>
          <a:ln/>
        </p:spPr>
        <p:txBody>
          <a:bodyPr wrap="square" lIns="0" tIns="0" rIns="0" bIns="0" rtlCol="0" anchor="ctr"/>
          <a:lstStyle/>
          <a:p>
            <a:pPr indent="0" marL="0">
              <a:buNone/>
            </a:pPr>
            <a:r>
              <a:rPr lang="en-US" sz="1100" dirty="0">
                <a:solidFill>
                  <a:srgbClr val="607D8B"/>
                </a:solidFill>
              </a:rPr>
              <a:t>Dataset source &amp; version control</a:t>
            </a:r>
            <a:endParaRPr lang="en-US" sz="1100" dirty="0"/>
          </a:p>
        </p:txBody>
      </p:sp>
      <p:sp>
        <p:nvSpPr>
          <p:cNvPr id="30" name="Text 28"/>
          <p:cNvSpPr/>
          <p:nvPr/>
        </p:nvSpPr>
        <p:spPr>
          <a:xfrm>
            <a:off x="320040" y="2880360"/>
            <a:ext cx="2743200" cy="320040"/>
          </a:xfrm>
          <a:prstGeom prst="rect">
            <a:avLst/>
          </a:prstGeom>
          <a:noFill/>
          <a:ln/>
        </p:spPr>
        <p:txBody>
          <a:bodyPr wrap="square" lIns="0" tIns="0" rIns="0" bIns="0" rtlCol="0" anchor="ctr"/>
          <a:lstStyle/>
          <a:p>
            <a:pPr indent="0" marL="0">
              <a:buNone/>
            </a:pPr>
            <a:r>
              <a:rPr lang="en-US" sz="1300" b="1" dirty="0">
                <a:solidFill>
                  <a:srgbClr val="0D1B2A"/>
                </a:solidFill>
              </a:rPr>
              <a:t>Analytical Process</a:t>
            </a:r>
            <a:endParaRPr lang="en-US" sz="1300" dirty="0"/>
          </a:p>
        </p:txBody>
      </p:sp>
      <p:sp>
        <p:nvSpPr>
          <p:cNvPr id="31" name="Shape 29"/>
          <p:cNvSpPr/>
          <p:nvPr/>
        </p:nvSpPr>
        <p:spPr>
          <a:xfrm>
            <a:off x="320040" y="3246120"/>
            <a:ext cx="1207008" cy="15087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2" name="Text 30"/>
          <p:cNvSpPr/>
          <p:nvPr/>
        </p:nvSpPr>
        <p:spPr>
          <a:xfrm>
            <a:off x="320040"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1</a:t>
            </a:r>
            <a:endParaRPr lang="en-US" sz="1600" dirty="0"/>
          </a:p>
        </p:txBody>
      </p:sp>
      <p:sp>
        <p:nvSpPr>
          <p:cNvPr id="33" name="Text 31"/>
          <p:cNvSpPr/>
          <p:nvPr/>
        </p:nvSpPr>
        <p:spPr>
          <a:xfrm>
            <a:off x="365760"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Raw Data</a:t>
            </a:r>
            <a:endParaRPr lang="en-US" sz="1050" dirty="0"/>
          </a:p>
          <a:p>
            <a:pPr algn="ctr" indent="0" marL="0">
              <a:buNone/>
            </a:pPr>
            <a:r>
              <a:rPr lang="en-US" sz="1050" dirty="0">
                <a:solidFill>
                  <a:srgbClr val="FFFFFF"/>
                </a:solidFill>
              </a:rPr>
              <a:t>Collection</a:t>
            </a:r>
            <a:endParaRPr lang="en-US" sz="1050" dirty="0"/>
          </a:p>
        </p:txBody>
      </p:sp>
      <p:sp>
        <p:nvSpPr>
          <p:cNvPr id="34" name="Text 32"/>
          <p:cNvSpPr/>
          <p:nvPr/>
        </p:nvSpPr>
        <p:spPr>
          <a:xfrm>
            <a:off x="1527048" y="3749040"/>
            <a:ext cx="237744"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35" name="Shape 33"/>
          <p:cNvSpPr/>
          <p:nvPr/>
        </p:nvSpPr>
        <p:spPr>
          <a:xfrm>
            <a:off x="1764792" y="3246120"/>
            <a:ext cx="1207008" cy="1508760"/>
          </a:xfrm>
          <a:prstGeom prst="rect">
            <a:avLst/>
          </a:prstGeom>
          <a:solidFill>
            <a:srgbClr val="1565C0"/>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36" name="Text 34"/>
          <p:cNvSpPr/>
          <p:nvPr/>
        </p:nvSpPr>
        <p:spPr>
          <a:xfrm>
            <a:off x="1764792"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2</a:t>
            </a:r>
            <a:endParaRPr lang="en-US" sz="1600" dirty="0"/>
          </a:p>
        </p:txBody>
      </p:sp>
      <p:sp>
        <p:nvSpPr>
          <p:cNvPr id="37" name="Text 35"/>
          <p:cNvSpPr/>
          <p:nvPr/>
        </p:nvSpPr>
        <p:spPr>
          <a:xfrm>
            <a:off x="1810512"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Python</a:t>
            </a:r>
            <a:endParaRPr lang="en-US" sz="1050" dirty="0"/>
          </a:p>
          <a:p>
            <a:pPr algn="ctr" indent="0" marL="0">
              <a:buNone/>
            </a:pPr>
            <a:r>
              <a:rPr lang="en-US" sz="1050" dirty="0">
                <a:solidFill>
                  <a:srgbClr val="FFFFFF"/>
                </a:solidFill>
              </a:rPr>
              <a:t>Cleaning</a:t>
            </a:r>
            <a:endParaRPr lang="en-US" sz="1050" dirty="0"/>
          </a:p>
        </p:txBody>
      </p:sp>
      <p:sp>
        <p:nvSpPr>
          <p:cNvPr id="38" name="Text 36"/>
          <p:cNvSpPr/>
          <p:nvPr/>
        </p:nvSpPr>
        <p:spPr>
          <a:xfrm>
            <a:off x="2971800" y="3749040"/>
            <a:ext cx="237744"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39" name="Shape 37"/>
          <p:cNvSpPr/>
          <p:nvPr/>
        </p:nvSpPr>
        <p:spPr>
          <a:xfrm>
            <a:off x="3209544" y="3246120"/>
            <a:ext cx="1207008" cy="15087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40" name="Text 38"/>
          <p:cNvSpPr/>
          <p:nvPr/>
        </p:nvSpPr>
        <p:spPr>
          <a:xfrm>
            <a:off x="3209544"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3</a:t>
            </a:r>
            <a:endParaRPr lang="en-US" sz="1600" dirty="0"/>
          </a:p>
        </p:txBody>
      </p:sp>
      <p:sp>
        <p:nvSpPr>
          <p:cNvPr id="41" name="Text 39"/>
          <p:cNvSpPr/>
          <p:nvPr/>
        </p:nvSpPr>
        <p:spPr>
          <a:xfrm>
            <a:off x="3255264"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SQL Business</a:t>
            </a:r>
            <a:endParaRPr lang="en-US" sz="1050" dirty="0"/>
          </a:p>
          <a:p>
            <a:pPr algn="ctr" indent="0" marL="0">
              <a:buNone/>
            </a:pPr>
            <a:r>
              <a:rPr lang="en-US" sz="1050" dirty="0">
                <a:solidFill>
                  <a:srgbClr val="FFFFFF"/>
                </a:solidFill>
              </a:rPr>
              <a:t>Queries</a:t>
            </a:r>
            <a:endParaRPr lang="en-US" sz="1050" dirty="0"/>
          </a:p>
        </p:txBody>
      </p:sp>
      <p:sp>
        <p:nvSpPr>
          <p:cNvPr id="42" name="Text 40"/>
          <p:cNvSpPr/>
          <p:nvPr/>
        </p:nvSpPr>
        <p:spPr>
          <a:xfrm>
            <a:off x="4416552" y="3749040"/>
            <a:ext cx="237744"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43" name="Shape 41"/>
          <p:cNvSpPr/>
          <p:nvPr/>
        </p:nvSpPr>
        <p:spPr>
          <a:xfrm>
            <a:off x="4654296" y="3246120"/>
            <a:ext cx="1207008" cy="1508760"/>
          </a:xfrm>
          <a:prstGeom prst="rect">
            <a:avLst/>
          </a:prstGeom>
          <a:solidFill>
            <a:srgbClr val="1565C0"/>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44" name="Text 42"/>
          <p:cNvSpPr/>
          <p:nvPr/>
        </p:nvSpPr>
        <p:spPr>
          <a:xfrm>
            <a:off x="4654296"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4</a:t>
            </a:r>
            <a:endParaRPr lang="en-US" sz="1600" dirty="0"/>
          </a:p>
        </p:txBody>
      </p:sp>
      <p:sp>
        <p:nvSpPr>
          <p:cNvPr id="45" name="Text 43"/>
          <p:cNvSpPr/>
          <p:nvPr/>
        </p:nvSpPr>
        <p:spPr>
          <a:xfrm>
            <a:off x="4700016"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Python</a:t>
            </a:r>
            <a:endParaRPr lang="en-US" sz="1050" dirty="0"/>
          </a:p>
          <a:p>
            <a:pPr algn="ctr" indent="0" marL="0">
              <a:buNone/>
            </a:pPr>
            <a:r>
              <a:rPr lang="en-US" sz="1050" dirty="0">
                <a:solidFill>
                  <a:srgbClr val="FFFFFF"/>
                </a:solidFill>
              </a:rPr>
              <a:t>EDA</a:t>
            </a:r>
            <a:endParaRPr lang="en-US" sz="1050" dirty="0"/>
          </a:p>
        </p:txBody>
      </p:sp>
      <p:sp>
        <p:nvSpPr>
          <p:cNvPr id="46" name="Text 44"/>
          <p:cNvSpPr/>
          <p:nvPr/>
        </p:nvSpPr>
        <p:spPr>
          <a:xfrm>
            <a:off x="5861304" y="3749040"/>
            <a:ext cx="237744"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47" name="Shape 45"/>
          <p:cNvSpPr/>
          <p:nvPr/>
        </p:nvSpPr>
        <p:spPr>
          <a:xfrm>
            <a:off x="6099048" y="3246120"/>
            <a:ext cx="1207008" cy="150876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48" name="Text 46"/>
          <p:cNvSpPr/>
          <p:nvPr/>
        </p:nvSpPr>
        <p:spPr>
          <a:xfrm>
            <a:off x="6099048"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5</a:t>
            </a:r>
            <a:endParaRPr lang="en-US" sz="1600" dirty="0"/>
          </a:p>
        </p:txBody>
      </p:sp>
      <p:sp>
        <p:nvSpPr>
          <p:cNvPr id="49" name="Text 47"/>
          <p:cNvSpPr/>
          <p:nvPr/>
        </p:nvSpPr>
        <p:spPr>
          <a:xfrm>
            <a:off x="6144768"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Power BI</a:t>
            </a:r>
            <a:endParaRPr lang="en-US" sz="1050" dirty="0"/>
          </a:p>
          <a:p>
            <a:pPr algn="ctr" indent="0" marL="0">
              <a:buNone/>
            </a:pPr>
            <a:r>
              <a:rPr lang="en-US" sz="1050" dirty="0">
                <a:solidFill>
                  <a:srgbClr val="FFFFFF"/>
                </a:solidFill>
              </a:rPr>
              <a:t>Dashboard</a:t>
            </a:r>
            <a:endParaRPr lang="en-US" sz="1050" dirty="0"/>
          </a:p>
        </p:txBody>
      </p:sp>
      <p:sp>
        <p:nvSpPr>
          <p:cNvPr id="50" name="Text 48"/>
          <p:cNvSpPr/>
          <p:nvPr/>
        </p:nvSpPr>
        <p:spPr>
          <a:xfrm>
            <a:off x="7306056" y="3749040"/>
            <a:ext cx="237744" cy="365760"/>
          </a:xfrm>
          <a:prstGeom prst="rect">
            <a:avLst/>
          </a:prstGeom>
          <a:noFill/>
          <a:ln/>
        </p:spPr>
        <p:txBody>
          <a:bodyPr wrap="square" lIns="0" tIns="0" rIns="0" bIns="0" rtlCol="0" anchor="ctr"/>
          <a:lstStyle/>
          <a:p>
            <a:pPr algn="ctr" indent="0" marL="0">
              <a:buNone/>
            </a:pPr>
            <a:r>
              <a:rPr lang="en-US" sz="1600" dirty="0">
                <a:solidFill>
                  <a:srgbClr val="00BCD4"/>
                </a:solidFill>
              </a:rPr>
              <a:t>→</a:t>
            </a:r>
            <a:endParaRPr lang="en-US" sz="1600" dirty="0"/>
          </a:p>
        </p:txBody>
      </p:sp>
      <p:sp>
        <p:nvSpPr>
          <p:cNvPr id="51" name="Shape 49"/>
          <p:cNvSpPr/>
          <p:nvPr/>
        </p:nvSpPr>
        <p:spPr>
          <a:xfrm>
            <a:off x="7543800" y="3246120"/>
            <a:ext cx="1207008" cy="1508760"/>
          </a:xfrm>
          <a:prstGeom prst="rect">
            <a:avLst/>
          </a:prstGeom>
          <a:solidFill>
            <a:srgbClr val="1565C0"/>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52" name="Text 50"/>
          <p:cNvSpPr/>
          <p:nvPr/>
        </p:nvSpPr>
        <p:spPr>
          <a:xfrm>
            <a:off x="7543800" y="3291840"/>
            <a:ext cx="1207008" cy="365760"/>
          </a:xfrm>
          <a:prstGeom prst="rect">
            <a:avLst/>
          </a:prstGeom>
          <a:noFill/>
          <a:ln/>
        </p:spPr>
        <p:txBody>
          <a:bodyPr wrap="square" lIns="0" tIns="0" rIns="0" bIns="0" rtlCol="0" anchor="ctr"/>
          <a:lstStyle/>
          <a:p>
            <a:pPr algn="ctr" indent="0" marL="0">
              <a:buNone/>
            </a:pPr>
            <a:r>
              <a:rPr lang="en-US" sz="1600" b="1" dirty="0">
                <a:solidFill>
                  <a:srgbClr val="00BCD4"/>
                </a:solidFill>
              </a:rPr>
              <a:t>6</a:t>
            </a:r>
            <a:endParaRPr lang="en-US" sz="1600" dirty="0"/>
          </a:p>
        </p:txBody>
      </p:sp>
      <p:sp>
        <p:nvSpPr>
          <p:cNvPr id="53" name="Text 51"/>
          <p:cNvSpPr/>
          <p:nvPr/>
        </p:nvSpPr>
        <p:spPr>
          <a:xfrm>
            <a:off x="7589520" y="3703320"/>
            <a:ext cx="1115568" cy="822960"/>
          </a:xfrm>
          <a:prstGeom prst="rect">
            <a:avLst/>
          </a:prstGeom>
          <a:noFill/>
          <a:ln/>
        </p:spPr>
        <p:txBody>
          <a:bodyPr wrap="square" lIns="0" tIns="0" rIns="0" bIns="0" rtlCol="0" anchor="ctr"/>
          <a:lstStyle/>
          <a:p>
            <a:pPr algn="ctr" indent="0" marL="0">
              <a:buNone/>
            </a:pPr>
            <a:r>
              <a:rPr lang="en-US" sz="1050" dirty="0">
                <a:solidFill>
                  <a:srgbClr val="FFFFFF"/>
                </a:solidFill>
              </a:rPr>
              <a:t>Business</a:t>
            </a:r>
            <a:endParaRPr lang="en-US" sz="1050" dirty="0"/>
          </a:p>
          <a:p>
            <a:pPr algn="ctr" indent="0" marL="0">
              <a:buNone/>
            </a:pPr>
            <a:r>
              <a:rPr lang="en-US" sz="1050" dirty="0">
                <a:solidFill>
                  <a:srgbClr val="FFFFFF"/>
                </a:solidFill>
              </a:rPr>
              <a:t>Insights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03  |  Key Challenges &amp; Solutions</a:t>
            </a:r>
            <a:endParaRPr lang="en-US" sz="2400" dirty="0"/>
          </a:p>
        </p:txBody>
      </p:sp>
      <p:sp>
        <p:nvSpPr>
          <p:cNvPr id="4" name="Shape 2"/>
          <p:cNvSpPr/>
          <p:nvPr/>
        </p:nvSpPr>
        <p:spPr>
          <a:xfrm>
            <a:off x="320040" y="777240"/>
            <a:ext cx="4160520" cy="196596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4160520" cy="54864"/>
          </a:xfrm>
          <a:prstGeom prst="rect">
            <a:avLst/>
          </a:prstGeom>
          <a:solidFill>
            <a:srgbClr val="E53935"/>
          </a:solidFill>
          <a:ln w="12700">
            <a:solidFill>
              <a:srgbClr val="E53935"/>
            </a:solidFill>
            <a:prstDash val="solid"/>
          </a:ln>
        </p:spPr>
      </p:sp>
      <p:sp>
        <p:nvSpPr>
          <p:cNvPr id="6" name="Shape 4"/>
          <p:cNvSpPr/>
          <p:nvPr/>
        </p:nvSpPr>
        <p:spPr>
          <a:xfrm>
            <a:off x="320040" y="832104"/>
            <a:ext cx="457200" cy="1911096"/>
          </a:xfrm>
          <a:prstGeom prst="rect">
            <a:avLst/>
          </a:prstGeom>
          <a:solidFill>
            <a:srgbClr val="ECEFF1"/>
          </a:solidFill>
          <a:ln w="12700">
            <a:solidFill>
              <a:srgbClr val="ECEFF1"/>
            </a:solidFill>
            <a:prstDash val="solid"/>
          </a:ln>
        </p:spPr>
      </p:sp>
      <p:sp>
        <p:nvSpPr>
          <p:cNvPr id="7" name="Text 5"/>
          <p:cNvSpPr/>
          <p:nvPr/>
        </p:nvSpPr>
        <p:spPr>
          <a:xfrm>
            <a:off x="365760" y="960120"/>
            <a:ext cx="365760" cy="411480"/>
          </a:xfrm>
          <a:prstGeom prst="rect">
            <a:avLst/>
          </a:prstGeom>
          <a:noFill/>
          <a:ln/>
        </p:spPr>
        <p:txBody>
          <a:bodyPr wrap="square" lIns="0" tIns="0" rIns="0" bIns="0" rtlCol="0" anchor="ctr"/>
          <a:lstStyle/>
          <a:p>
            <a:pPr algn="ctr" indent="0" marL="0">
              <a:buNone/>
            </a:pPr>
            <a:r>
              <a:rPr lang="en-US" sz="1800" b="1" dirty="0">
                <a:solidFill>
                  <a:srgbClr val="0D1B2A"/>
                </a:solidFill>
              </a:rPr>
              <a:t>01</a:t>
            </a:r>
            <a:endParaRPr lang="en-US" sz="1800" dirty="0"/>
          </a:p>
        </p:txBody>
      </p:sp>
      <p:sp>
        <p:nvSpPr>
          <p:cNvPr id="8" name="Shape 6"/>
          <p:cNvSpPr/>
          <p:nvPr/>
        </p:nvSpPr>
        <p:spPr>
          <a:xfrm>
            <a:off x="850392" y="886968"/>
            <a:ext cx="1463040" cy="228600"/>
          </a:xfrm>
          <a:prstGeom prst="rect">
            <a:avLst/>
          </a:prstGeom>
          <a:solidFill>
            <a:srgbClr val="E53935"/>
          </a:solidFill>
          <a:ln w="12700">
            <a:solidFill>
              <a:srgbClr val="E53935"/>
            </a:solidFill>
            <a:prstDash val="solid"/>
          </a:ln>
        </p:spPr>
      </p:sp>
      <p:sp>
        <p:nvSpPr>
          <p:cNvPr id="9" name="Text 7"/>
          <p:cNvSpPr/>
          <p:nvPr/>
        </p:nvSpPr>
        <p:spPr>
          <a:xfrm>
            <a:off x="850392" y="886968"/>
            <a:ext cx="1463040" cy="228600"/>
          </a:xfrm>
          <a:prstGeom prst="rect">
            <a:avLst/>
          </a:prstGeom>
          <a:noFill/>
          <a:ln/>
        </p:spPr>
        <p:txBody>
          <a:bodyPr wrap="square" lIns="0" tIns="0" rIns="0" bIns="0" rtlCol="0" anchor="ctr"/>
          <a:lstStyle/>
          <a:p>
            <a:pPr algn="ctr" indent="0" marL="0">
              <a:buNone/>
            </a:pPr>
            <a:r>
              <a:rPr lang="en-US" sz="900" dirty="0">
                <a:solidFill>
                  <a:srgbClr val="FFFFFF"/>
                </a:solidFill>
              </a:rPr>
              <a:t>Data Quality</a:t>
            </a:r>
            <a:endParaRPr lang="en-US" sz="900" dirty="0"/>
          </a:p>
        </p:txBody>
      </p:sp>
      <p:sp>
        <p:nvSpPr>
          <p:cNvPr id="10" name="Text 8"/>
          <p:cNvSpPr/>
          <p:nvPr/>
        </p:nvSpPr>
        <p:spPr>
          <a:xfrm>
            <a:off x="850392" y="1170432"/>
            <a:ext cx="3520440" cy="320040"/>
          </a:xfrm>
          <a:prstGeom prst="rect">
            <a:avLst/>
          </a:prstGeom>
          <a:noFill/>
          <a:ln/>
        </p:spPr>
        <p:txBody>
          <a:bodyPr wrap="square" lIns="0" tIns="0" rIns="0" bIns="0" rtlCol="0" anchor="ctr"/>
          <a:lstStyle/>
          <a:p>
            <a:pPr indent="0" marL="0">
              <a:buNone/>
            </a:pPr>
            <a:r>
              <a:rPr lang="en-US" sz="1200" b="1" dirty="0">
                <a:solidFill>
                  <a:srgbClr val="0D1B2A"/>
                </a:solidFill>
              </a:rPr>
              <a:t>Dirty TotalCharges Column</a:t>
            </a:r>
            <a:endParaRPr lang="en-US" sz="1200" dirty="0"/>
          </a:p>
        </p:txBody>
      </p:sp>
      <p:sp>
        <p:nvSpPr>
          <p:cNvPr id="11" name="Text 9"/>
          <p:cNvSpPr/>
          <p:nvPr/>
        </p:nvSpPr>
        <p:spPr>
          <a:xfrm>
            <a:off x="850392" y="1508760"/>
            <a:ext cx="3520440" cy="502920"/>
          </a:xfrm>
          <a:prstGeom prst="rect">
            <a:avLst/>
          </a:prstGeom>
          <a:noFill/>
          <a:ln/>
        </p:spPr>
        <p:txBody>
          <a:bodyPr wrap="square" lIns="0" tIns="0" rIns="0" bIns="0" rtlCol="0" anchor="ctr"/>
          <a:lstStyle/>
          <a:p>
            <a:pPr indent="0" marL="0">
              <a:buNone/>
            </a:pPr>
            <a:r>
              <a:rPr lang="en-US" sz="1050" dirty="0">
                <a:solidFill>
                  <a:srgbClr val="607D8B"/>
                </a:solidFill>
              </a:rPr>
              <a:t>⚠ TotalCharges stored as text with whitespace — caused silent NaN values when converting to numeric.</a:t>
            </a:r>
            <a:endParaRPr lang="en-US" sz="1050" dirty="0"/>
          </a:p>
        </p:txBody>
      </p:sp>
      <p:sp>
        <p:nvSpPr>
          <p:cNvPr id="12" name="Text 10"/>
          <p:cNvSpPr/>
          <p:nvPr/>
        </p:nvSpPr>
        <p:spPr>
          <a:xfrm>
            <a:off x="850392" y="2039112"/>
            <a:ext cx="3520440" cy="594360"/>
          </a:xfrm>
          <a:prstGeom prst="rect">
            <a:avLst/>
          </a:prstGeom>
          <a:noFill/>
          <a:ln/>
        </p:spPr>
        <p:txBody>
          <a:bodyPr wrap="square" lIns="0" tIns="0" rIns="0" bIns="0" rtlCol="0" anchor="ctr"/>
          <a:lstStyle/>
          <a:p>
            <a:pPr indent="0" marL="0">
              <a:buNone/>
            </a:pPr>
            <a:r>
              <a:rPr lang="en-US" sz="1050" dirty="0">
                <a:solidFill>
                  <a:srgbClr val="2E7D32"/>
                </a:solidFill>
              </a:rPr>
              <a:t>✓ Used pd.to_numeric(errors='coerce') then filled nulls with median — preserving data integrity without removing rows.</a:t>
            </a:r>
            <a:endParaRPr lang="en-US" sz="1050" dirty="0"/>
          </a:p>
        </p:txBody>
      </p:sp>
      <p:sp>
        <p:nvSpPr>
          <p:cNvPr id="13" name="Shape 11"/>
          <p:cNvSpPr/>
          <p:nvPr/>
        </p:nvSpPr>
        <p:spPr>
          <a:xfrm>
            <a:off x="4754880" y="777240"/>
            <a:ext cx="4160520" cy="196596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754880" y="777240"/>
            <a:ext cx="4160520" cy="54864"/>
          </a:xfrm>
          <a:prstGeom prst="rect">
            <a:avLst/>
          </a:prstGeom>
          <a:solidFill>
            <a:srgbClr val="E53935"/>
          </a:solidFill>
          <a:ln w="12700">
            <a:solidFill>
              <a:srgbClr val="E53935"/>
            </a:solidFill>
            <a:prstDash val="solid"/>
          </a:ln>
        </p:spPr>
      </p:sp>
      <p:sp>
        <p:nvSpPr>
          <p:cNvPr id="15" name="Shape 13"/>
          <p:cNvSpPr/>
          <p:nvPr/>
        </p:nvSpPr>
        <p:spPr>
          <a:xfrm>
            <a:off x="4754880" y="832104"/>
            <a:ext cx="457200" cy="1911096"/>
          </a:xfrm>
          <a:prstGeom prst="rect">
            <a:avLst/>
          </a:prstGeom>
          <a:solidFill>
            <a:srgbClr val="ECEFF1"/>
          </a:solidFill>
          <a:ln w="12700">
            <a:solidFill>
              <a:srgbClr val="ECEFF1"/>
            </a:solidFill>
            <a:prstDash val="solid"/>
          </a:ln>
        </p:spPr>
      </p:sp>
      <p:sp>
        <p:nvSpPr>
          <p:cNvPr id="16" name="Text 14"/>
          <p:cNvSpPr/>
          <p:nvPr/>
        </p:nvSpPr>
        <p:spPr>
          <a:xfrm>
            <a:off x="4800600" y="960120"/>
            <a:ext cx="365760" cy="411480"/>
          </a:xfrm>
          <a:prstGeom prst="rect">
            <a:avLst/>
          </a:prstGeom>
          <a:noFill/>
          <a:ln/>
        </p:spPr>
        <p:txBody>
          <a:bodyPr wrap="square" lIns="0" tIns="0" rIns="0" bIns="0" rtlCol="0" anchor="ctr"/>
          <a:lstStyle/>
          <a:p>
            <a:pPr algn="ctr" indent="0" marL="0">
              <a:buNone/>
            </a:pPr>
            <a:r>
              <a:rPr lang="en-US" sz="1800" b="1" dirty="0">
                <a:solidFill>
                  <a:srgbClr val="0D1B2A"/>
                </a:solidFill>
              </a:rPr>
              <a:t>02</a:t>
            </a:r>
            <a:endParaRPr lang="en-US" sz="1800" dirty="0"/>
          </a:p>
        </p:txBody>
      </p:sp>
      <p:sp>
        <p:nvSpPr>
          <p:cNvPr id="17" name="Shape 15"/>
          <p:cNvSpPr/>
          <p:nvPr/>
        </p:nvSpPr>
        <p:spPr>
          <a:xfrm>
            <a:off x="5285232" y="886968"/>
            <a:ext cx="1463040" cy="228600"/>
          </a:xfrm>
          <a:prstGeom prst="rect">
            <a:avLst/>
          </a:prstGeom>
          <a:solidFill>
            <a:srgbClr val="1565C0"/>
          </a:solidFill>
          <a:ln w="12700">
            <a:solidFill>
              <a:srgbClr val="1565C0"/>
            </a:solidFill>
            <a:prstDash val="solid"/>
          </a:ln>
        </p:spPr>
      </p:sp>
      <p:sp>
        <p:nvSpPr>
          <p:cNvPr id="18" name="Text 16"/>
          <p:cNvSpPr/>
          <p:nvPr/>
        </p:nvSpPr>
        <p:spPr>
          <a:xfrm>
            <a:off x="5285232" y="886968"/>
            <a:ext cx="1463040" cy="228600"/>
          </a:xfrm>
          <a:prstGeom prst="rect">
            <a:avLst/>
          </a:prstGeom>
          <a:noFill/>
          <a:ln/>
        </p:spPr>
        <p:txBody>
          <a:bodyPr wrap="square" lIns="0" tIns="0" rIns="0" bIns="0" rtlCol="0" anchor="ctr"/>
          <a:lstStyle/>
          <a:p>
            <a:pPr algn="ctr" indent="0" marL="0">
              <a:buNone/>
            </a:pPr>
            <a:r>
              <a:rPr lang="en-US" sz="900" dirty="0">
                <a:solidFill>
                  <a:srgbClr val="FFFFFF"/>
                </a:solidFill>
              </a:rPr>
              <a:t>Analysis Design</a:t>
            </a:r>
            <a:endParaRPr lang="en-US" sz="900" dirty="0"/>
          </a:p>
        </p:txBody>
      </p:sp>
      <p:sp>
        <p:nvSpPr>
          <p:cNvPr id="19" name="Text 17"/>
          <p:cNvSpPr/>
          <p:nvPr/>
        </p:nvSpPr>
        <p:spPr>
          <a:xfrm>
            <a:off x="5285232" y="1170432"/>
            <a:ext cx="3520440" cy="320040"/>
          </a:xfrm>
          <a:prstGeom prst="rect">
            <a:avLst/>
          </a:prstGeom>
          <a:noFill/>
          <a:ln/>
        </p:spPr>
        <p:txBody>
          <a:bodyPr wrap="square" lIns="0" tIns="0" rIns="0" bIns="0" rtlCol="0" anchor="ctr"/>
          <a:lstStyle/>
          <a:p>
            <a:pPr indent="0" marL="0">
              <a:buNone/>
            </a:pPr>
            <a:r>
              <a:rPr lang="en-US" sz="1200" b="1" dirty="0">
                <a:solidFill>
                  <a:srgbClr val="0D1B2A"/>
                </a:solidFill>
              </a:rPr>
              <a:t>Imbalanced Churn Classes</a:t>
            </a:r>
            <a:endParaRPr lang="en-US" sz="1200" dirty="0"/>
          </a:p>
        </p:txBody>
      </p:sp>
      <p:sp>
        <p:nvSpPr>
          <p:cNvPr id="20" name="Text 18"/>
          <p:cNvSpPr/>
          <p:nvPr/>
        </p:nvSpPr>
        <p:spPr>
          <a:xfrm>
            <a:off x="5285232" y="1508760"/>
            <a:ext cx="3520440" cy="502920"/>
          </a:xfrm>
          <a:prstGeom prst="rect">
            <a:avLst/>
          </a:prstGeom>
          <a:noFill/>
          <a:ln/>
        </p:spPr>
        <p:txBody>
          <a:bodyPr wrap="square" lIns="0" tIns="0" rIns="0" bIns="0" rtlCol="0" anchor="ctr"/>
          <a:lstStyle/>
          <a:p>
            <a:pPr indent="0" marL="0">
              <a:buNone/>
            </a:pPr>
            <a:r>
              <a:rPr lang="en-US" sz="1050" dirty="0">
                <a:solidFill>
                  <a:srgbClr val="607D8B"/>
                </a:solidFill>
              </a:rPr>
              <a:t>⚠ Only 26.5% of customers churned — raw counts mislead stakeholders into underestimating the problem.</a:t>
            </a:r>
            <a:endParaRPr lang="en-US" sz="1050" dirty="0"/>
          </a:p>
        </p:txBody>
      </p:sp>
      <p:sp>
        <p:nvSpPr>
          <p:cNvPr id="21" name="Text 19"/>
          <p:cNvSpPr/>
          <p:nvPr/>
        </p:nvSpPr>
        <p:spPr>
          <a:xfrm>
            <a:off x="5285232" y="2039112"/>
            <a:ext cx="3520440" cy="594360"/>
          </a:xfrm>
          <a:prstGeom prst="rect">
            <a:avLst/>
          </a:prstGeom>
          <a:noFill/>
          <a:ln/>
        </p:spPr>
        <p:txBody>
          <a:bodyPr wrap="square" lIns="0" tIns="0" rIns="0" bIns="0" rtlCol="0" anchor="ctr"/>
          <a:lstStyle/>
          <a:p>
            <a:pPr indent="0" marL="0">
              <a:buNone/>
            </a:pPr>
            <a:r>
              <a:rPr lang="en-US" sz="1050" dirty="0">
                <a:solidFill>
                  <a:srgbClr val="2E7D32"/>
                </a:solidFill>
              </a:rPr>
              <a:t>✓ Reported churn RATE (%) instead of counts across all segments — providing accurate comparison between groups.</a:t>
            </a:r>
            <a:endParaRPr lang="en-US" sz="1050" dirty="0"/>
          </a:p>
        </p:txBody>
      </p:sp>
      <p:sp>
        <p:nvSpPr>
          <p:cNvPr id="22" name="Shape 20"/>
          <p:cNvSpPr/>
          <p:nvPr/>
        </p:nvSpPr>
        <p:spPr>
          <a:xfrm>
            <a:off x="320040" y="2880360"/>
            <a:ext cx="4160520" cy="196596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20040" y="2880360"/>
            <a:ext cx="4160520" cy="54864"/>
          </a:xfrm>
          <a:prstGeom prst="rect">
            <a:avLst/>
          </a:prstGeom>
          <a:solidFill>
            <a:srgbClr val="E53935"/>
          </a:solidFill>
          <a:ln w="12700">
            <a:solidFill>
              <a:srgbClr val="E53935"/>
            </a:solidFill>
            <a:prstDash val="solid"/>
          </a:ln>
        </p:spPr>
      </p:sp>
      <p:sp>
        <p:nvSpPr>
          <p:cNvPr id="24" name="Shape 22"/>
          <p:cNvSpPr/>
          <p:nvPr/>
        </p:nvSpPr>
        <p:spPr>
          <a:xfrm>
            <a:off x="320040" y="2935224"/>
            <a:ext cx="457200" cy="1911096"/>
          </a:xfrm>
          <a:prstGeom prst="rect">
            <a:avLst/>
          </a:prstGeom>
          <a:solidFill>
            <a:srgbClr val="ECEFF1"/>
          </a:solidFill>
          <a:ln w="12700">
            <a:solidFill>
              <a:srgbClr val="ECEFF1"/>
            </a:solidFill>
            <a:prstDash val="solid"/>
          </a:ln>
        </p:spPr>
      </p:sp>
      <p:sp>
        <p:nvSpPr>
          <p:cNvPr id="25" name="Text 23"/>
          <p:cNvSpPr/>
          <p:nvPr/>
        </p:nvSpPr>
        <p:spPr>
          <a:xfrm>
            <a:off x="365760" y="3063240"/>
            <a:ext cx="365760" cy="411480"/>
          </a:xfrm>
          <a:prstGeom prst="rect">
            <a:avLst/>
          </a:prstGeom>
          <a:noFill/>
          <a:ln/>
        </p:spPr>
        <p:txBody>
          <a:bodyPr wrap="square" lIns="0" tIns="0" rIns="0" bIns="0" rtlCol="0" anchor="ctr"/>
          <a:lstStyle/>
          <a:p>
            <a:pPr algn="ctr" indent="0" marL="0">
              <a:buNone/>
            </a:pPr>
            <a:r>
              <a:rPr lang="en-US" sz="1800" b="1" dirty="0">
                <a:solidFill>
                  <a:srgbClr val="0D1B2A"/>
                </a:solidFill>
              </a:rPr>
              <a:t>03</a:t>
            </a:r>
            <a:endParaRPr lang="en-US" sz="1800" dirty="0"/>
          </a:p>
        </p:txBody>
      </p:sp>
      <p:sp>
        <p:nvSpPr>
          <p:cNvPr id="26" name="Shape 24"/>
          <p:cNvSpPr/>
          <p:nvPr/>
        </p:nvSpPr>
        <p:spPr>
          <a:xfrm>
            <a:off x="850392" y="2990088"/>
            <a:ext cx="1463040" cy="228600"/>
          </a:xfrm>
          <a:prstGeom prst="rect">
            <a:avLst/>
          </a:prstGeom>
          <a:solidFill>
            <a:srgbClr val="2E7D32"/>
          </a:solidFill>
          <a:ln w="12700">
            <a:solidFill>
              <a:srgbClr val="2E7D32"/>
            </a:solidFill>
            <a:prstDash val="solid"/>
          </a:ln>
        </p:spPr>
      </p:sp>
      <p:sp>
        <p:nvSpPr>
          <p:cNvPr id="27" name="Text 25"/>
          <p:cNvSpPr/>
          <p:nvPr/>
        </p:nvSpPr>
        <p:spPr>
          <a:xfrm>
            <a:off x="850392" y="2990088"/>
            <a:ext cx="1463040" cy="228600"/>
          </a:xfrm>
          <a:prstGeom prst="rect">
            <a:avLst/>
          </a:prstGeom>
          <a:noFill/>
          <a:ln/>
        </p:spPr>
        <p:txBody>
          <a:bodyPr wrap="square" lIns="0" tIns="0" rIns="0" bIns="0" rtlCol="0" anchor="ctr"/>
          <a:lstStyle/>
          <a:p>
            <a:pPr algn="ctr" indent="0" marL="0">
              <a:buNone/>
            </a:pPr>
            <a:r>
              <a:rPr lang="en-US" sz="900" dirty="0">
                <a:solidFill>
                  <a:srgbClr val="FFFFFF"/>
                </a:solidFill>
              </a:rPr>
              <a:t>Feature Engineering</a:t>
            </a:r>
            <a:endParaRPr lang="en-US" sz="900" dirty="0"/>
          </a:p>
        </p:txBody>
      </p:sp>
      <p:sp>
        <p:nvSpPr>
          <p:cNvPr id="28" name="Text 26"/>
          <p:cNvSpPr/>
          <p:nvPr/>
        </p:nvSpPr>
        <p:spPr>
          <a:xfrm>
            <a:off x="850392" y="3273552"/>
            <a:ext cx="3520440" cy="320040"/>
          </a:xfrm>
          <a:prstGeom prst="rect">
            <a:avLst/>
          </a:prstGeom>
          <a:noFill/>
          <a:ln/>
        </p:spPr>
        <p:txBody>
          <a:bodyPr wrap="square" lIns="0" tIns="0" rIns="0" bIns="0" rtlCol="0" anchor="ctr"/>
          <a:lstStyle/>
          <a:p>
            <a:pPr indent="0" marL="0">
              <a:buNone/>
            </a:pPr>
            <a:r>
              <a:rPr lang="en-US" sz="1200" b="1" dirty="0">
                <a:solidFill>
                  <a:srgbClr val="0D1B2A"/>
                </a:solidFill>
              </a:rPr>
              <a:t>Turning Raw Data into Business Segments</a:t>
            </a:r>
            <a:endParaRPr lang="en-US" sz="1200" dirty="0"/>
          </a:p>
        </p:txBody>
      </p:sp>
      <p:sp>
        <p:nvSpPr>
          <p:cNvPr id="29" name="Text 27"/>
          <p:cNvSpPr/>
          <p:nvPr/>
        </p:nvSpPr>
        <p:spPr>
          <a:xfrm>
            <a:off x="850392" y="3611880"/>
            <a:ext cx="3520440" cy="502920"/>
          </a:xfrm>
          <a:prstGeom prst="rect">
            <a:avLst/>
          </a:prstGeom>
          <a:noFill/>
          <a:ln/>
        </p:spPr>
        <p:txBody>
          <a:bodyPr wrap="square" lIns="0" tIns="0" rIns="0" bIns="0" rtlCol="0" anchor="ctr"/>
          <a:lstStyle/>
          <a:p>
            <a:pPr indent="0" marL="0">
              <a:buNone/>
            </a:pPr>
            <a:r>
              <a:rPr lang="en-US" sz="1050" dirty="0">
                <a:solidFill>
                  <a:srgbClr val="607D8B"/>
                </a:solidFill>
              </a:rPr>
              <a:t>⚠ Raw tenure months and charges were not business-readable — analysts needed meaningful groupings.</a:t>
            </a:r>
            <a:endParaRPr lang="en-US" sz="1050" dirty="0"/>
          </a:p>
        </p:txBody>
      </p:sp>
      <p:sp>
        <p:nvSpPr>
          <p:cNvPr id="30" name="Text 28"/>
          <p:cNvSpPr/>
          <p:nvPr/>
        </p:nvSpPr>
        <p:spPr>
          <a:xfrm>
            <a:off x="850392" y="4142232"/>
            <a:ext cx="3520440" cy="594360"/>
          </a:xfrm>
          <a:prstGeom prst="rect">
            <a:avLst/>
          </a:prstGeom>
          <a:noFill/>
          <a:ln/>
        </p:spPr>
        <p:txBody>
          <a:bodyPr wrap="square" lIns="0" tIns="0" rIns="0" bIns="0" rtlCol="0" anchor="ctr"/>
          <a:lstStyle/>
          <a:p>
            <a:pPr indent="0" marL="0">
              <a:buNone/>
            </a:pPr>
            <a:r>
              <a:rPr lang="en-US" sz="1050" dirty="0">
                <a:solidFill>
                  <a:srgbClr val="2E7D32"/>
                </a:solidFill>
              </a:rPr>
              <a:t>✓ Engineered Tenure_Group and Charge_Segment columns using pd.cut() to enable group-level SQL analysis.</a:t>
            </a:r>
            <a:endParaRPr lang="en-US" sz="1050" dirty="0"/>
          </a:p>
        </p:txBody>
      </p:sp>
      <p:sp>
        <p:nvSpPr>
          <p:cNvPr id="31" name="Shape 29"/>
          <p:cNvSpPr/>
          <p:nvPr/>
        </p:nvSpPr>
        <p:spPr>
          <a:xfrm>
            <a:off x="4754880" y="2880360"/>
            <a:ext cx="4160520" cy="196596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4754880" y="2880360"/>
            <a:ext cx="4160520" cy="54864"/>
          </a:xfrm>
          <a:prstGeom prst="rect">
            <a:avLst/>
          </a:prstGeom>
          <a:solidFill>
            <a:srgbClr val="E53935"/>
          </a:solidFill>
          <a:ln w="12700">
            <a:solidFill>
              <a:srgbClr val="E53935"/>
            </a:solidFill>
            <a:prstDash val="solid"/>
          </a:ln>
        </p:spPr>
      </p:sp>
      <p:sp>
        <p:nvSpPr>
          <p:cNvPr id="33" name="Shape 31"/>
          <p:cNvSpPr/>
          <p:nvPr/>
        </p:nvSpPr>
        <p:spPr>
          <a:xfrm>
            <a:off x="4754880" y="2935224"/>
            <a:ext cx="457200" cy="1911096"/>
          </a:xfrm>
          <a:prstGeom prst="rect">
            <a:avLst/>
          </a:prstGeom>
          <a:solidFill>
            <a:srgbClr val="ECEFF1"/>
          </a:solidFill>
          <a:ln w="12700">
            <a:solidFill>
              <a:srgbClr val="ECEFF1"/>
            </a:solidFill>
            <a:prstDash val="solid"/>
          </a:ln>
        </p:spPr>
      </p:sp>
      <p:sp>
        <p:nvSpPr>
          <p:cNvPr id="34" name="Text 32"/>
          <p:cNvSpPr/>
          <p:nvPr/>
        </p:nvSpPr>
        <p:spPr>
          <a:xfrm>
            <a:off x="4800600" y="3063240"/>
            <a:ext cx="365760" cy="411480"/>
          </a:xfrm>
          <a:prstGeom prst="rect">
            <a:avLst/>
          </a:prstGeom>
          <a:noFill/>
          <a:ln/>
        </p:spPr>
        <p:txBody>
          <a:bodyPr wrap="square" lIns="0" tIns="0" rIns="0" bIns="0" rtlCol="0" anchor="ctr"/>
          <a:lstStyle/>
          <a:p>
            <a:pPr algn="ctr" indent="0" marL="0">
              <a:buNone/>
            </a:pPr>
            <a:r>
              <a:rPr lang="en-US" sz="1800" b="1" dirty="0">
                <a:solidFill>
                  <a:srgbClr val="0D1B2A"/>
                </a:solidFill>
              </a:rPr>
              <a:t>04</a:t>
            </a:r>
            <a:endParaRPr lang="en-US" sz="1800" dirty="0"/>
          </a:p>
        </p:txBody>
      </p:sp>
      <p:sp>
        <p:nvSpPr>
          <p:cNvPr id="35" name="Shape 33"/>
          <p:cNvSpPr/>
          <p:nvPr/>
        </p:nvSpPr>
        <p:spPr>
          <a:xfrm>
            <a:off x="5285232" y="2990088"/>
            <a:ext cx="1463040" cy="228600"/>
          </a:xfrm>
          <a:prstGeom prst="rect">
            <a:avLst/>
          </a:prstGeom>
          <a:solidFill>
            <a:srgbClr val="F57F17"/>
          </a:solidFill>
          <a:ln w="12700">
            <a:solidFill>
              <a:srgbClr val="F57F17"/>
            </a:solidFill>
            <a:prstDash val="solid"/>
          </a:ln>
        </p:spPr>
      </p:sp>
      <p:sp>
        <p:nvSpPr>
          <p:cNvPr id="36" name="Text 34"/>
          <p:cNvSpPr/>
          <p:nvPr/>
        </p:nvSpPr>
        <p:spPr>
          <a:xfrm>
            <a:off x="5285232" y="2990088"/>
            <a:ext cx="1463040" cy="228600"/>
          </a:xfrm>
          <a:prstGeom prst="rect">
            <a:avLst/>
          </a:prstGeom>
          <a:noFill/>
          <a:ln/>
        </p:spPr>
        <p:txBody>
          <a:bodyPr wrap="square" lIns="0" tIns="0" rIns="0" bIns="0" rtlCol="0" anchor="ctr"/>
          <a:lstStyle/>
          <a:p>
            <a:pPr algn="ctr" indent="0" marL="0">
              <a:buNone/>
            </a:pPr>
            <a:r>
              <a:rPr lang="en-US" sz="900" dirty="0">
                <a:solidFill>
                  <a:srgbClr val="FFFFFF"/>
                </a:solidFill>
              </a:rPr>
              <a:t>Stakeholder Communication</a:t>
            </a:r>
            <a:endParaRPr lang="en-US" sz="900" dirty="0"/>
          </a:p>
        </p:txBody>
      </p:sp>
      <p:sp>
        <p:nvSpPr>
          <p:cNvPr id="37" name="Text 35"/>
          <p:cNvSpPr/>
          <p:nvPr/>
        </p:nvSpPr>
        <p:spPr>
          <a:xfrm>
            <a:off x="5285232" y="3273552"/>
            <a:ext cx="3520440" cy="320040"/>
          </a:xfrm>
          <a:prstGeom prst="rect">
            <a:avLst/>
          </a:prstGeom>
          <a:noFill/>
          <a:ln/>
        </p:spPr>
        <p:txBody>
          <a:bodyPr wrap="square" lIns="0" tIns="0" rIns="0" bIns="0" rtlCol="0" anchor="ctr"/>
          <a:lstStyle/>
          <a:p>
            <a:pPr indent="0" marL="0">
              <a:buNone/>
            </a:pPr>
            <a:r>
              <a:rPr lang="en-US" sz="1200" b="1" dirty="0">
                <a:solidFill>
                  <a:srgbClr val="0D1B2A"/>
                </a:solidFill>
              </a:rPr>
              <a:t>Proving Revenue Impact</a:t>
            </a:r>
            <a:endParaRPr lang="en-US" sz="1200" dirty="0"/>
          </a:p>
        </p:txBody>
      </p:sp>
      <p:sp>
        <p:nvSpPr>
          <p:cNvPr id="38" name="Text 36"/>
          <p:cNvSpPr/>
          <p:nvPr/>
        </p:nvSpPr>
        <p:spPr>
          <a:xfrm>
            <a:off x="5285232" y="3611880"/>
            <a:ext cx="3520440" cy="502920"/>
          </a:xfrm>
          <a:prstGeom prst="rect">
            <a:avLst/>
          </a:prstGeom>
          <a:noFill/>
          <a:ln/>
        </p:spPr>
        <p:txBody>
          <a:bodyPr wrap="square" lIns="0" tIns="0" rIns="0" bIns="0" rtlCol="0" anchor="ctr"/>
          <a:lstStyle/>
          <a:p>
            <a:pPr indent="0" marL="0">
              <a:buNone/>
            </a:pPr>
            <a:r>
              <a:rPr lang="en-US" sz="1050" dirty="0">
                <a:solidFill>
                  <a:srgbClr val="607D8B"/>
                </a:solidFill>
              </a:rPr>
              <a:t>⚠ Stakeholders needed a dollar figure, not just percentages — churn rate alone doesn't drive urgency.</a:t>
            </a:r>
            <a:endParaRPr lang="en-US" sz="1050" dirty="0"/>
          </a:p>
        </p:txBody>
      </p:sp>
      <p:sp>
        <p:nvSpPr>
          <p:cNvPr id="39" name="Text 37"/>
          <p:cNvSpPr/>
          <p:nvPr/>
        </p:nvSpPr>
        <p:spPr>
          <a:xfrm>
            <a:off x="5285232" y="4142232"/>
            <a:ext cx="3520440" cy="594360"/>
          </a:xfrm>
          <a:prstGeom prst="rect">
            <a:avLst/>
          </a:prstGeom>
          <a:noFill/>
          <a:ln/>
        </p:spPr>
        <p:txBody>
          <a:bodyPr wrap="square" lIns="0" tIns="0" rIns="0" bIns="0" rtlCol="0" anchor="ctr"/>
          <a:lstStyle/>
          <a:p>
            <a:pPr indent="0" marL="0">
              <a:buNone/>
            </a:pPr>
            <a:r>
              <a:rPr lang="en-US" sz="1050" dirty="0">
                <a:solidFill>
                  <a:srgbClr val="2E7D32"/>
                </a:solidFill>
              </a:rPr>
              <a:t>✓ Created Revenue_At_Risk column = MonthlyCharges × Churn_Flag to quantify lost monthly revenue directly.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04  |  Analysis, KPIs &amp; Key Findings</a:t>
            </a:r>
            <a:endParaRPr lang="en-US" sz="2400" dirty="0"/>
          </a:p>
        </p:txBody>
      </p:sp>
      <p:sp>
        <p:nvSpPr>
          <p:cNvPr id="4" name="Shape 2"/>
          <p:cNvSpPr/>
          <p:nvPr/>
        </p:nvSpPr>
        <p:spPr>
          <a:xfrm>
            <a:off x="320040" y="749808"/>
            <a:ext cx="1993392" cy="1024128"/>
          </a:xfrm>
          <a:prstGeom prst="rect">
            <a:avLst/>
          </a:prstGeom>
          <a:solidFill>
            <a:srgbClr val="E53935"/>
          </a:solidFill>
          <a:ln w="12700">
            <a:solidFill>
              <a:srgbClr val="E53935"/>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320040" y="804672"/>
            <a:ext cx="1993392" cy="530352"/>
          </a:xfrm>
          <a:prstGeom prst="rect">
            <a:avLst/>
          </a:prstGeom>
          <a:noFill/>
          <a:ln/>
        </p:spPr>
        <p:txBody>
          <a:bodyPr wrap="square" lIns="0" tIns="0" rIns="0" bIns="0" rtlCol="0" anchor="ctr"/>
          <a:lstStyle/>
          <a:p>
            <a:pPr algn="ctr" indent="0" marL="0">
              <a:buNone/>
            </a:pPr>
            <a:r>
              <a:rPr lang="en-US" sz="2800" b="1" dirty="0">
                <a:solidFill>
                  <a:srgbClr val="FFFFFF"/>
                </a:solidFill>
              </a:rPr>
              <a:t>26.5%</a:t>
            </a:r>
            <a:endParaRPr lang="en-US" sz="2800" dirty="0"/>
          </a:p>
        </p:txBody>
      </p:sp>
      <p:sp>
        <p:nvSpPr>
          <p:cNvPr id="6" name="Text 4"/>
          <p:cNvSpPr/>
          <p:nvPr/>
        </p:nvSpPr>
        <p:spPr>
          <a:xfrm>
            <a:off x="393192" y="1353312"/>
            <a:ext cx="1847088" cy="347472"/>
          </a:xfrm>
          <a:prstGeom prst="rect">
            <a:avLst/>
          </a:prstGeom>
          <a:noFill/>
          <a:ln/>
        </p:spPr>
        <p:txBody>
          <a:bodyPr wrap="square" lIns="0" tIns="0" rIns="0" bIns="0" rtlCol="0" anchor="ctr"/>
          <a:lstStyle/>
          <a:p>
            <a:pPr algn="ctr" indent="0" marL="0">
              <a:buNone/>
            </a:pPr>
            <a:r>
              <a:rPr lang="en-US" sz="1000" dirty="0">
                <a:solidFill>
                  <a:srgbClr val="FFFFFF"/>
                </a:solidFill>
              </a:rPr>
              <a:t>Overall Churn Rate</a:t>
            </a:r>
            <a:endParaRPr lang="en-US" sz="1000" dirty="0"/>
          </a:p>
        </p:txBody>
      </p:sp>
      <p:sp>
        <p:nvSpPr>
          <p:cNvPr id="7" name="Shape 5"/>
          <p:cNvSpPr/>
          <p:nvPr/>
        </p:nvSpPr>
        <p:spPr>
          <a:xfrm>
            <a:off x="2468880" y="749808"/>
            <a:ext cx="1993392" cy="1024128"/>
          </a:xfrm>
          <a:prstGeom prst="rect">
            <a:avLst/>
          </a:prstGeom>
          <a:solidFill>
            <a:srgbClr val="F57F17"/>
          </a:solidFill>
          <a:ln w="12700">
            <a:solidFill>
              <a:srgbClr val="F57F1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2468880" y="804672"/>
            <a:ext cx="1993392" cy="530352"/>
          </a:xfrm>
          <a:prstGeom prst="rect">
            <a:avLst/>
          </a:prstGeom>
          <a:noFill/>
          <a:ln/>
        </p:spPr>
        <p:txBody>
          <a:bodyPr wrap="square" lIns="0" tIns="0" rIns="0" bIns="0" rtlCol="0" anchor="ctr"/>
          <a:lstStyle/>
          <a:p>
            <a:pPr algn="ctr" indent="0" marL="0">
              <a:buNone/>
            </a:pPr>
            <a:r>
              <a:rPr lang="en-US" sz="2800" b="1" dirty="0">
                <a:solidFill>
                  <a:srgbClr val="FFFFFF"/>
                </a:solidFill>
              </a:rPr>
              <a:t>42.7%</a:t>
            </a:r>
            <a:endParaRPr lang="en-US" sz="2800" dirty="0"/>
          </a:p>
        </p:txBody>
      </p:sp>
      <p:sp>
        <p:nvSpPr>
          <p:cNvPr id="9" name="Text 7"/>
          <p:cNvSpPr/>
          <p:nvPr/>
        </p:nvSpPr>
        <p:spPr>
          <a:xfrm>
            <a:off x="2542032" y="1353312"/>
            <a:ext cx="1847088" cy="347472"/>
          </a:xfrm>
          <a:prstGeom prst="rect">
            <a:avLst/>
          </a:prstGeom>
          <a:noFill/>
          <a:ln/>
        </p:spPr>
        <p:txBody>
          <a:bodyPr wrap="square" lIns="0" tIns="0" rIns="0" bIns="0" rtlCol="0" anchor="ctr"/>
          <a:lstStyle/>
          <a:p>
            <a:pPr algn="ctr" indent="0" marL="0">
              <a:buNone/>
            </a:pPr>
            <a:r>
              <a:rPr lang="en-US" sz="1000" dirty="0">
                <a:solidFill>
                  <a:srgbClr val="FFFFFF"/>
                </a:solidFill>
              </a:rPr>
              <a:t>Month-to-Month Churn</a:t>
            </a:r>
            <a:endParaRPr lang="en-US" sz="1000" dirty="0"/>
          </a:p>
        </p:txBody>
      </p:sp>
      <p:sp>
        <p:nvSpPr>
          <p:cNvPr id="10" name="Shape 8"/>
          <p:cNvSpPr/>
          <p:nvPr/>
        </p:nvSpPr>
        <p:spPr>
          <a:xfrm>
            <a:off x="4617720" y="749808"/>
            <a:ext cx="1993392" cy="1024128"/>
          </a:xfrm>
          <a:prstGeom prst="rect">
            <a:avLst/>
          </a:prstGeom>
          <a:solidFill>
            <a:srgbClr val="1565C0"/>
          </a:solidFill>
          <a:ln w="12700">
            <a:solidFill>
              <a:srgbClr val="1565C0"/>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617720" y="804672"/>
            <a:ext cx="1993392" cy="530352"/>
          </a:xfrm>
          <a:prstGeom prst="rect">
            <a:avLst/>
          </a:prstGeom>
          <a:noFill/>
          <a:ln/>
        </p:spPr>
        <p:txBody>
          <a:bodyPr wrap="square" lIns="0" tIns="0" rIns="0" bIns="0" rtlCol="0" anchor="ctr"/>
          <a:lstStyle/>
          <a:p>
            <a:pPr algn="ctr" indent="0" marL="0">
              <a:buNone/>
            </a:pPr>
            <a:r>
              <a:rPr lang="en-US" sz="2800" b="1" dirty="0">
                <a:solidFill>
                  <a:srgbClr val="FFFFFF"/>
                </a:solidFill>
              </a:rPr>
              <a:t>$64.76</a:t>
            </a:r>
            <a:endParaRPr lang="en-US" sz="2800" dirty="0"/>
          </a:p>
        </p:txBody>
      </p:sp>
      <p:sp>
        <p:nvSpPr>
          <p:cNvPr id="12" name="Text 10"/>
          <p:cNvSpPr/>
          <p:nvPr/>
        </p:nvSpPr>
        <p:spPr>
          <a:xfrm>
            <a:off x="4690872" y="1353312"/>
            <a:ext cx="1847088" cy="347472"/>
          </a:xfrm>
          <a:prstGeom prst="rect">
            <a:avLst/>
          </a:prstGeom>
          <a:noFill/>
          <a:ln/>
        </p:spPr>
        <p:txBody>
          <a:bodyPr wrap="square" lIns="0" tIns="0" rIns="0" bIns="0" rtlCol="0" anchor="ctr"/>
          <a:lstStyle/>
          <a:p>
            <a:pPr algn="ctr" indent="0" marL="0">
              <a:buNone/>
            </a:pPr>
            <a:r>
              <a:rPr lang="en-US" sz="1000" dirty="0">
                <a:solidFill>
                  <a:srgbClr val="FFFFFF"/>
                </a:solidFill>
              </a:rPr>
              <a:t>Avg Charges (Churned)</a:t>
            </a:r>
            <a:endParaRPr lang="en-US" sz="1000" dirty="0"/>
          </a:p>
        </p:txBody>
      </p:sp>
      <p:sp>
        <p:nvSpPr>
          <p:cNvPr id="13" name="Shape 11"/>
          <p:cNvSpPr/>
          <p:nvPr/>
        </p:nvSpPr>
        <p:spPr>
          <a:xfrm>
            <a:off x="6766560" y="749808"/>
            <a:ext cx="1993392" cy="1024128"/>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14" name="Text 12"/>
          <p:cNvSpPr/>
          <p:nvPr/>
        </p:nvSpPr>
        <p:spPr>
          <a:xfrm>
            <a:off x="6766560" y="804672"/>
            <a:ext cx="1993392" cy="530352"/>
          </a:xfrm>
          <a:prstGeom prst="rect">
            <a:avLst/>
          </a:prstGeom>
          <a:noFill/>
          <a:ln/>
        </p:spPr>
        <p:txBody>
          <a:bodyPr wrap="square" lIns="0" tIns="0" rIns="0" bIns="0" rtlCol="0" anchor="ctr"/>
          <a:lstStyle/>
          <a:p>
            <a:pPr algn="ctr" indent="0" marL="0">
              <a:buNone/>
            </a:pPr>
            <a:r>
              <a:rPr lang="en-US" sz="2800" b="1" dirty="0">
                <a:solidFill>
                  <a:srgbClr val="FFFFFF"/>
                </a:solidFill>
              </a:rPr>
              <a:t>~18mo</a:t>
            </a:r>
            <a:endParaRPr lang="en-US" sz="2800" dirty="0"/>
          </a:p>
        </p:txBody>
      </p:sp>
      <p:sp>
        <p:nvSpPr>
          <p:cNvPr id="15" name="Text 13"/>
          <p:cNvSpPr/>
          <p:nvPr/>
        </p:nvSpPr>
        <p:spPr>
          <a:xfrm>
            <a:off x="6839712" y="1353312"/>
            <a:ext cx="1847088" cy="347472"/>
          </a:xfrm>
          <a:prstGeom prst="rect">
            <a:avLst/>
          </a:prstGeom>
          <a:noFill/>
          <a:ln/>
        </p:spPr>
        <p:txBody>
          <a:bodyPr wrap="square" lIns="0" tIns="0" rIns="0" bIns="0" rtlCol="0" anchor="ctr"/>
          <a:lstStyle/>
          <a:p>
            <a:pPr algn="ctr" indent="0" marL="0">
              <a:buNone/>
            </a:pPr>
            <a:r>
              <a:rPr lang="en-US" sz="1000" dirty="0">
                <a:solidFill>
                  <a:srgbClr val="FFFFFF"/>
                </a:solidFill>
              </a:rPr>
              <a:t>Avg Tenure (Churned)</a:t>
            </a:r>
            <a:endParaRPr lang="en-US" sz="1000" dirty="0"/>
          </a:p>
        </p:txBody>
      </p:sp>
      <p:graphicFrame>
        <p:nvGraphicFramePr>
          <p:cNvPr id="16" name="Chart 0" descr=""/>
          <p:cNvGraphicFramePr/>
          <p:nvPr/>
        </p:nvGraphicFramePr>
        <p:xfrm>
          <a:off x="320040" y="1920240"/>
          <a:ext cx="416052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4663440" y="1920240"/>
          <a:ext cx="4160520" cy="28346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04  |  SQL Queries &amp; Python EDA</a:t>
            </a:r>
            <a:endParaRPr lang="en-US" sz="2400" dirty="0"/>
          </a:p>
        </p:txBody>
      </p:sp>
      <p:sp>
        <p:nvSpPr>
          <p:cNvPr id="4" name="Shape 2"/>
          <p:cNvSpPr/>
          <p:nvPr/>
        </p:nvSpPr>
        <p:spPr>
          <a:xfrm>
            <a:off x="320040" y="777240"/>
            <a:ext cx="4160520" cy="4023360"/>
          </a:xfrm>
          <a:prstGeom prst="rect">
            <a:avLst/>
          </a:prstGeom>
          <a:solidFill>
            <a:srgbClr val="0D1117"/>
          </a:solidFill>
          <a:ln w="12700">
            <a:solidFill>
              <a:srgbClr val="00BCD4"/>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4160520" cy="365760"/>
          </a:xfrm>
          <a:prstGeom prst="rect">
            <a:avLst/>
          </a:prstGeom>
          <a:solidFill>
            <a:srgbClr val="161B22"/>
          </a:solidFill>
          <a:ln w="12700">
            <a:solidFill>
              <a:srgbClr val="00BCD4"/>
            </a:solidFill>
            <a:prstDash val="solid"/>
          </a:ln>
        </p:spPr>
      </p:sp>
      <p:sp>
        <p:nvSpPr>
          <p:cNvPr id="6" name="Text 4"/>
          <p:cNvSpPr/>
          <p:nvPr/>
        </p:nvSpPr>
        <p:spPr>
          <a:xfrm>
            <a:off x="411480" y="795528"/>
            <a:ext cx="3977640" cy="320040"/>
          </a:xfrm>
          <a:prstGeom prst="rect">
            <a:avLst/>
          </a:prstGeom>
          <a:noFill/>
          <a:ln/>
        </p:spPr>
        <p:txBody>
          <a:bodyPr wrap="square" lIns="0" tIns="0" rIns="0" bIns="0" rtlCol="0" anchor="ctr"/>
          <a:lstStyle/>
          <a:p>
            <a:pPr indent="0" marL="0">
              <a:buNone/>
            </a:pPr>
            <a:r>
              <a:rPr lang="en-US" sz="1100" b="1" dirty="0">
                <a:solidFill>
                  <a:srgbClr val="00BCD4"/>
                </a:solidFill>
              </a:rPr>
              <a:t>SQL  —  Churn by Contract</a:t>
            </a:r>
            <a:endParaRPr lang="en-US" sz="1100" dirty="0"/>
          </a:p>
        </p:txBody>
      </p:sp>
      <p:sp>
        <p:nvSpPr>
          <p:cNvPr id="7" name="Text 5"/>
          <p:cNvSpPr/>
          <p:nvPr/>
        </p:nvSpPr>
        <p:spPr>
          <a:xfrm>
            <a:off x="384048" y="1207008"/>
            <a:ext cx="3977640" cy="3383280"/>
          </a:xfrm>
          <a:prstGeom prst="rect">
            <a:avLst/>
          </a:prstGeom>
          <a:noFill/>
          <a:ln/>
        </p:spPr>
        <p:txBody>
          <a:bodyPr wrap="square" lIns="0" tIns="0" rIns="0" bIns="0" rtlCol="0" anchor="ctr"/>
          <a:lstStyle/>
          <a:p>
            <a:pPr indent="0" marL="0">
              <a:buNone/>
            </a:pPr>
            <a:r>
              <a:rPr lang="en-US" sz="1050" dirty="0">
                <a:solidFill>
                  <a:srgbClr val="A8D8A8"/>
                </a:solidFill>
                <a:latin typeface="Courier New" pitchFamily="34" charset="0"/>
                <a:ea typeface="Courier New" pitchFamily="34" charset="-122"/>
                <a:cs typeface="Courier New" pitchFamily="34" charset="-120"/>
              </a:rPr>
              <a:t>SELECT</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Contract,</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COUNT(*) AS Customers,</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SUM(Churn_Flag) AS Churned,</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ROUND(AVG(Churn_Flag)*100,2)</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AS Churn_Rate_Pct</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FROM churn</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GROUP BY Contract</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ORDER BY Churn_Rate_Pct DESC;</a:t>
            </a:r>
            <a:endParaRPr lang="en-US" sz="1050" dirty="0"/>
          </a:p>
          <a:p>
            <a:pPr indent="0" marL="0">
              <a:buNone/>
            </a:pP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Result:</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Month-to-month  → 42.7%</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One year        → 11.3%</a:t>
            </a:r>
            <a:endParaRPr lang="en-US" sz="1050" dirty="0"/>
          </a:p>
          <a:p>
            <a:pPr indent="0" marL="0">
              <a:buNone/>
            </a:pPr>
            <a:r>
              <a:rPr lang="en-US" sz="1050" dirty="0">
                <a:solidFill>
                  <a:srgbClr val="A8D8A8"/>
                </a:solidFill>
                <a:latin typeface="Courier New" pitchFamily="34" charset="0"/>
                <a:ea typeface="Courier New" pitchFamily="34" charset="-122"/>
                <a:cs typeface="Courier New" pitchFamily="34" charset="-120"/>
              </a:rPr>
              <a:t>-- Two year        →  2.8%</a:t>
            </a:r>
            <a:endParaRPr lang="en-US" sz="1050" dirty="0"/>
          </a:p>
        </p:txBody>
      </p:sp>
      <p:sp>
        <p:nvSpPr>
          <p:cNvPr id="8" name="Shape 6"/>
          <p:cNvSpPr/>
          <p:nvPr/>
        </p:nvSpPr>
        <p:spPr>
          <a:xfrm>
            <a:off x="4663440" y="777240"/>
            <a:ext cx="4160520" cy="4023360"/>
          </a:xfrm>
          <a:prstGeom prst="rect">
            <a:avLst/>
          </a:prstGeom>
          <a:solidFill>
            <a:srgbClr val="0D1117"/>
          </a:solidFill>
          <a:ln w="12700">
            <a:solidFill>
              <a:srgbClr val="F57F17"/>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4663440" y="777240"/>
            <a:ext cx="4160520" cy="365760"/>
          </a:xfrm>
          <a:prstGeom prst="rect">
            <a:avLst/>
          </a:prstGeom>
          <a:solidFill>
            <a:srgbClr val="161B22"/>
          </a:solidFill>
          <a:ln w="12700">
            <a:solidFill>
              <a:srgbClr val="F57F17"/>
            </a:solidFill>
            <a:prstDash val="solid"/>
          </a:ln>
        </p:spPr>
      </p:sp>
      <p:sp>
        <p:nvSpPr>
          <p:cNvPr id="10" name="Text 8"/>
          <p:cNvSpPr/>
          <p:nvPr/>
        </p:nvSpPr>
        <p:spPr>
          <a:xfrm>
            <a:off x="4754880" y="795528"/>
            <a:ext cx="3977640" cy="320040"/>
          </a:xfrm>
          <a:prstGeom prst="rect">
            <a:avLst/>
          </a:prstGeom>
          <a:noFill/>
          <a:ln/>
        </p:spPr>
        <p:txBody>
          <a:bodyPr wrap="square" lIns="0" tIns="0" rIns="0" bIns="0" rtlCol="0" anchor="ctr"/>
          <a:lstStyle/>
          <a:p>
            <a:pPr indent="0" marL="0">
              <a:buNone/>
            </a:pPr>
            <a:r>
              <a:rPr lang="en-US" sz="1100" b="1" dirty="0">
                <a:solidFill>
                  <a:srgbClr val="F57F17"/>
                </a:solidFill>
              </a:rPr>
              <a:t>Python  —  Feature Engineering</a:t>
            </a:r>
            <a:endParaRPr lang="en-US" sz="1100" dirty="0"/>
          </a:p>
        </p:txBody>
      </p:sp>
      <p:sp>
        <p:nvSpPr>
          <p:cNvPr id="11" name="Text 9"/>
          <p:cNvSpPr/>
          <p:nvPr/>
        </p:nvSpPr>
        <p:spPr>
          <a:xfrm>
            <a:off x="4727448" y="1207008"/>
            <a:ext cx="3977640" cy="3383280"/>
          </a:xfrm>
          <a:prstGeom prst="rect">
            <a:avLst/>
          </a:prstGeom>
          <a:noFill/>
          <a:ln/>
        </p:spPr>
        <p:txBody>
          <a:bodyPr wrap="square" lIns="0" tIns="0" rIns="0" bIns="0" rtlCol="0" anchor="ctr"/>
          <a:lstStyle/>
          <a:p>
            <a:pPr indent="0" marL="0">
              <a:buNone/>
            </a:pPr>
            <a:r>
              <a:rPr lang="en-US" sz="1000" dirty="0">
                <a:solidFill>
                  <a:srgbClr val="F9C74F"/>
                </a:solidFill>
                <a:latin typeface="Courier New" pitchFamily="34" charset="0"/>
                <a:ea typeface="Courier New" pitchFamily="34" charset="-122"/>
                <a:cs typeface="Courier New" pitchFamily="34" charset="-120"/>
              </a:rPr>
              <a:t>import pandas as pd</a:t>
            </a:r>
            <a:endParaRPr lang="en-US" sz="1000" dirty="0"/>
          </a:p>
          <a:p>
            <a:pPr indent="0" marL="0">
              <a:buNone/>
            </a:pP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 = pd.read_csv("telco_churn.csv")</a:t>
            </a:r>
            <a:endParaRPr lang="en-US" sz="1000" dirty="0"/>
          </a:p>
          <a:p>
            <a:pPr indent="0" marL="0">
              <a:buNone/>
            </a:pP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Fix data type issue</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df['TotalCharges'] = pd.to_numeric(</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df['TotalCharges'], errors='coerce')</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df['TotalCharges'].fillna(</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df['TotalCharges'].median(),</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inplace=True)</a:t>
            </a:r>
            <a:endParaRPr lang="en-US" sz="1000" dirty="0"/>
          </a:p>
          <a:p>
            <a:pPr indent="0" marL="0">
              <a:buNone/>
            </a:pP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New analytical columns</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df['Churn_Flag'] = df['Churn'].map(</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{'Yes':1, 'No':0})</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df['Tenure_Group'] = pd.cut(</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df['tenure'],</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bins=[0,12,24,48,72],</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labels=['New','Growing',</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'Mature','Loyal'])</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df['Revenue_At_Risk'] = (</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df['Churn_Flag'] *</a:t>
            </a:r>
            <a:endParaRPr lang="en-US" sz="1000" dirty="0"/>
          </a:p>
          <a:p>
            <a:pPr indent="0" marL="0">
              <a:buNone/>
            </a:pPr>
            <a:r>
              <a:rPr lang="en-US" sz="1000" dirty="0">
                <a:solidFill>
                  <a:srgbClr val="F9C74F"/>
                </a:solidFill>
                <a:latin typeface="Courier New" pitchFamily="34" charset="0"/>
                <a:ea typeface="Courier New" pitchFamily="34" charset="-122"/>
                <a:cs typeface="Courier New" pitchFamily="34" charset="-120"/>
              </a:rPr>
              <a:t>  df['MonthlyCharges'])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05  |  Power BI Dashboard Design</a:t>
            </a:r>
            <a:endParaRPr lang="en-US" sz="2400" dirty="0"/>
          </a:p>
        </p:txBody>
      </p:sp>
      <p:sp>
        <p:nvSpPr>
          <p:cNvPr id="4" name="Shape 2"/>
          <p:cNvSpPr/>
          <p:nvPr/>
        </p:nvSpPr>
        <p:spPr>
          <a:xfrm>
            <a:off x="320040" y="777240"/>
            <a:ext cx="4160520" cy="1938528"/>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4160520" cy="402336"/>
          </a:xfrm>
          <a:prstGeom prst="rect">
            <a:avLst/>
          </a:prstGeom>
          <a:solidFill>
            <a:srgbClr val="0D1B2A"/>
          </a:solidFill>
          <a:ln w="12700">
            <a:solidFill>
              <a:srgbClr val="0D1B2A"/>
            </a:solidFill>
            <a:prstDash val="solid"/>
          </a:ln>
        </p:spPr>
      </p:sp>
      <p:sp>
        <p:nvSpPr>
          <p:cNvPr id="6" name="Text 4"/>
          <p:cNvSpPr/>
          <p:nvPr/>
        </p:nvSpPr>
        <p:spPr>
          <a:xfrm>
            <a:off x="429768" y="822960"/>
            <a:ext cx="914400" cy="310896"/>
          </a:xfrm>
          <a:prstGeom prst="rect">
            <a:avLst/>
          </a:prstGeom>
          <a:noFill/>
          <a:ln/>
        </p:spPr>
        <p:txBody>
          <a:bodyPr wrap="square" lIns="0" tIns="0" rIns="0" bIns="0" rtlCol="0" anchor="ctr"/>
          <a:lstStyle/>
          <a:p>
            <a:pPr indent="0" marL="0">
              <a:buNone/>
            </a:pPr>
            <a:r>
              <a:rPr lang="en-US" sz="1000" dirty="0">
                <a:solidFill>
                  <a:srgbClr val="90CAF9"/>
                </a:solidFill>
              </a:rPr>
              <a:t>Page 1</a:t>
            </a:r>
            <a:endParaRPr lang="en-US" sz="1000" dirty="0"/>
          </a:p>
        </p:txBody>
      </p:sp>
      <p:sp>
        <p:nvSpPr>
          <p:cNvPr id="7" name="Text 5"/>
          <p:cNvSpPr/>
          <p:nvPr/>
        </p:nvSpPr>
        <p:spPr>
          <a:xfrm>
            <a:off x="1234440" y="822960"/>
            <a:ext cx="3108960" cy="310896"/>
          </a:xfrm>
          <a:prstGeom prst="rect">
            <a:avLst/>
          </a:prstGeom>
          <a:noFill/>
          <a:ln/>
        </p:spPr>
        <p:txBody>
          <a:bodyPr wrap="square" lIns="0" tIns="0" rIns="0" bIns="0" rtlCol="0" anchor="ctr"/>
          <a:lstStyle/>
          <a:p>
            <a:pPr indent="0" marL="0">
              <a:buNone/>
            </a:pPr>
            <a:r>
              <a:rPr lang="en-US" sz="1300" b="1" dirty="0">
                <a:solidFill>
                  <a:srgbClr val="FFFFFF"/>
                </a:solidFill>
              </a:rPr>
              <a:t>Executive Overview</a:t>
            </a:r>
            <a:endParaRPr lang="en-US" sz="1300" dirty="0"/>
          </a:p>
        </p:txBody>
      </p:sp>
      <p:sp>
        <p:nvSpPr>
          <p:cNvPr id="8" name="Text 6"/>
          <p:cNvSpPr/>
          <p:nvPr/>
        </p:nvSpPr>
        <p:spPr>
          <a:xfrm>
            <a:off x="484632" y="1280160"/>
            <a:ext cx="3840480" cy="13258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KPI Card: Total Customers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KPI Card: Churn Rate %</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KPI Card: Revenue At Risk</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Donut: Churned vs Retained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Churn by Contract</a:t>
            </a:r>
            <a:endParaRPr lang="en-US" sz="1100" dirty="0"/>
          </a:p>
        </p:txBody>
      </p:sp>
      <p:sp>
        <p:nvSpPr>
          <p:cNvPr id="9" name="Shape 7"/>
          <p:cNvSpPr/>
          <p:nvPr/>
        </p:nvSpPr>
        <p:spPr>
          <a:xfrm>
            <a:off x="4754880" y="777240"/>
            <a:ext cx="4160520" cy="1938528"/>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54880" y="777240"/>
            <a:ext cx="4160520" cy="402336"/>
          </a:xfrm>
          <a:prstGeom prst="rect">
            <a:avLst/>
          </a:prstGeom>
          <a:solidFill>
            <a:srgbClr val="1565C0"/>
          </a:solidFill>
          <a:ln w="12700">
            <a:solidFill>
              <a:srgbClr val="1565C0"/>
            </a:solidFill>
            <a:prstDash val="solid"/>
          </a:ln>
        </p:spPr>
      </p:sp>
      <p:sp>
        <p:nvSpPr>
          <p:cNvPr id="11" name="Text 9"/>
          <p:cNvSpPr/>
          <p:nvPr/>
        </p:nvSpPr>
        <p:spPr>
          <a:xfrm>
            <a:off x="4864608" y="822960"/>
            <a:ext cx="914400" cy="310896"/>
          </a:xfrm>
          <a:prstGeom prst="rect">
            <a:avLst/>
          </a:prstGeom>
          <a:noFill/>
          <a:ln/>
        </p:spPr>
        <p:txBody>
          <a:bodyPr wrap="square" lIns="0" tIns="0" rIns="0" bIns="0" rtlCol="0" anchor="ctr"/>
          <a:lstStyle/>
          <a:p>
            <a:pPr indent="0" marL="0">
              <a:buNone/>
            </a:pPr>
            <a:r>
              <a:rPr lang="en-US" sz="1000" dirty="0">
                <a:solidFill>
                  <a:srgbClr val="90CAF9"/>
                </a:solidFill>
              </a:rPr>
              <a:t>Page 2</a:t>
            </a:r>
            <a:endParaRPr lang="en-US" sz="1000" dirty="0"/>
          </a:p>
        </p:txBody>
      </p:sp>
      <p:sp>
        <p:nvSpPr>
          <p:cNvPr id="12" name="Text 10"/>
          <p:cNvSpPr/>
          <p:nvPr/>
        </p:nvSpPr>
        <p:spPr>
          <a:xfrm>
            <a:off x="5669280" y="822960"/>
            <a:ext cx="3108960" cy="310896"/>
          </a:xfrm>
          <a:prstGeom prst="rect">
            <a:avLst/>
          </a:prstGeom>
          <a:noFill/>
          <a:ln/>
        </p:spPr>
        <p:txBody>
          <a:bodyPr wrap="square" lIns="0" tIns="0" rIns="0" bIns="0" rtlCol="0" anchor="ctr"/>
          <a:lstStyle/>
          <a:p>
            <a:pPr indent="0" marL="0">
              <a:buNone/>
            </a:pPr>
            <a:r>
              <a:rPr lang="en-US" sz="1300" b="1" dirty="0">
                <a:solidFill>
                  <a:srgbClr val="FFFFFF"/>
                </a:solidFill>
              </a:rPr>
              <a:t>Customer Segments</a:t>
            </a:r>
            <a:endParaRPr lang="en-US" sz="1300" dirty="0"/>
          </a:p>
        </p:txBody>
      </p:sp>
      <p:sp>
        <p:nvSpPr>
          <p:cNvPr id="13" name="Text 11"/>
          <p:cNvSpPr/>
          <p:nvPr/>
        </p:nvSpPr>
        <p:spPr>
          <a:xfrm>
            <a:off x="4919472" y="1280160"/>
            <a:ext cx="3840480" cy="13258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Churn by Tenure Group</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Churn by Payment Method</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Churn by Charge Segment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Matrix: Contract × Tenure Heatmap</a:t>
            </a:r>
            <a:endParaRPr lang="en-US" sz="1100" dirty="0"/>
          </a:p>
        </p:txBody>
      </p:sp>
      <p:sp>
        <p:nvSpPr>
          <p:cNvPr id="14" name="Shape 12"/>
          <p:cNvSpPr/>
          <p:nvPr/>
        </p:nvSpPr>
        <p:spPr>
          <a:xfrm>
            <a:off x="320040" y="2862072"/>
            <a:ext cx="4160520" cy="1938528"/>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20040" y="2862072"/>
            <a:ext cx="4160520" cy="402336"/>
          </a:xfrm>
          <a:prstGeom prst="rect">
            <a:avLst/>
          </a:prstGeom>
          <a:solidFill>
            <a:srgbClr val="E53935"/>
          </a:solidFill>
          <a:ln w="12700">
            <a:solidFill>
              <a:srgbClr val="E53935"/>
            </a:solidFill>
            <a:prstDash val="solid"/>
          </a:ln>
        </p:spPr>
      </p:sp>
      <p:sp>
        <p:nvSpPr>
          <p:cNvPr id="16" name="Text 14"/>
          <p:cNvSpPr/>
          <p:nvPr/>
        </p:nvSpPr>
        <p:spPr>
          <a:xfrm>
            <a:off x="429768" y="2907792"/>
            <a:ext cx="914400" cy="310896"/>
          </a:xfrm>
          <a:prstGeom prst="rect">
            <a:avLst/>
          </a:prstGeom>
          <a:noFill/>
          <a:ln/>
        </p:spPr>
        <p:txBody>
          <a:bodyPr wrap="square" lIns="0" tIns="0" rIns="0" bIns="0" rtlCol="0" anchor="ctr"/>
          <a:lstStyle/>
          <a:p>
            <a:pPr indent="0" marL="0">
              <a:buNone/>
            </a:pPr>
            <a:r>
              <a:rPr lang="en-US" sz="1000" dirty="0">
                <a:solidFill>
                  <a:srgbClr val="90CAF9"/>
                </a:solidFill>
              </a:rPr>
              <a:t>Page 3</a:t>
            </a:r>
            <a:endParaRPr lang="en-US" sz="1000" dirty="0"/>
          </a:p>
        </p:txBody>
      </p:sp>
      <p:sp>
        <p:nvSpPr>
          <p:cNvPr id="17" name="Text 15"/>
          <p:cNvSpPr/>
          <p:nvPr/>
        </p:nvSpPr>
        <p:spPr>
          <a:xfrm>
            <a:off x="1234440" y="2907792"/>
            <a:ext cx="3108960" cy="310896"/>
          </a:xfrm>
          <a:prstGeom prst="rect">
            <a:avLst/>
          </a:prstGeom>
          <a:noFill/>
          <a:ln/>
        </p:spPr>
        <p:txBody>
          <a:bodyPr wrap="square" lIns="0" tIns="0" rIns="0" bIns="0" rtlCol="0" anchor="ctr"/>
          <a:lstStyle/>
          <a:p>
            <a:pPr indent="0" marL="0">
              <a:buNone/>
            </a:pPr>
            <a:r>
              <a:rPr lang="en-US" sz="1300" b="1" dirty="0">
                <a:solidFill>
                  <a:srgbClr val="FFFFFF"/>
                </a:solidFill>
              </a:rPr>
              <a:t>Revenue Impact</a:t>
            </a:r>
            <a:endParaRPr lang="en-US" sz="1300" dirty="0"/>
          </a:p>
        </p:txBody>
      </p:sp>
      <p:sp>
        <p:nvSpPr>
          <p:cNvPr id="18" name="Text 16"/>
          <p:cNvSpPr/>
          <p:nvPr/>
        </p:nvSpPr>
        <p:spPr>
          <a:xfrm>
            <a:off x="484632" y="3364992"/>
            <a:ext cx="3840480" cy="13258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KPI: Monthly Revenue at Risk</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Revenue Lost by Internet Type</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Bar: Revenue Lost by Contract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Table: Top 20 High-Risk Customers</a:t>
            </a:r>
            <a:endParaRPr lang="en-US" sz="1100" dirty="0"/>
          </a:p>
        </p:txBody>
      </p:sp>
      <p:sp>
        <p:nvSpPr>
          <p:cNvPr id="19" name="Shape 17"/>
          <p:cNvSpPr/>
          <p:nvPr/>
        </p:nvSpPr>
        <p:spPr>
          <a:xfrm>
            <a:off x="4754880" y="2862072"/>
            <a:ext cx="4160520" cy="1938528"/>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754880" y="2862072"/>
            <a:ext cx="4160520" cy="402336"/>
          </a:xfrm>
          <a:prstGeom prst="rect">
            <a:avLst/>
          </a:prstGeom>
          <a:solidFill>
            <a:srgbClr val="2E7D32"/>
          </a:solidFill>
          <a:ln w="12700">
            <a:solidFill>
              <a:srgbClr val="2E7D32"/>
            </a:solidFill>
            <a:prstDash val="solid"/>
          </a:ln>
        </p:spPr>
      </p:sp>
      <p:sp>
        <p:nvSpPr>
          <p:cNvPr id="21" name="Text 19"/>
          <p:cNvSpPr/>
          <p:nvPr/>
        </p:nvSpPr>
        <p:spPr>
          <a:xfrm>
            <a:off x="4864608" y="2907792"/>
            <a:ext cx="914400" cy="310896"/>
          </a:xfrm>
          <a:prstGeom prst="rect">
            <a:avLst/>
          </a:prstGeom>
          <a:noFill/>
          <a:ln/>
        </p:spPr>
        <p:txBody>
          <a:bodyPr wrap="square" lIns="0" tIns="0" rIns="0" bIns="0" rtlCol="0" anchor="ctr"/>
          <a:lstStyle/>
          <a:p>
            <a:pPr indent="0" marL="0">
              <a:buNone/>
            </a:pPr>
            <a:r>
              <a:rPr lang="en-US" sz="1000" dirty="0">
                <a:solidFill>
                  <a:srgbClr val="90CAF9"/>
                </a:solidFill>
              </a:rPr>
              <a:t>Page 4</a:t>
            </a:r>
            <a:endParaRPr lang="en-US" sz="1000" dirty="0"/>
          </a:p>
        </p:txBody>
      </p:sp>
      <p:sp>
        <p:nvSpPr>
          <p:cNvPr id="22" name="Text 20"/>
          <p:cNvSpPr/>
          <p:nvPr/>
        </p:nvSpPr>
        <p:spPr>
          <a:xfrm>
            <a:off x="5669280" y="2907792"/>
            <a:ext cx="3108960" cy="310896"/>
          </a:xfrm>
          <a:prstGeom prst="rect">
            <a:avLst/>
          </a:prstGeom>
          <a:noFill/>
          <a:ln/>
        </p:spPr>
        <p:txBody>
          <a:bodyPr wrap="square" lIns="0" tIns="0" rIns="0" bIns="0" rtlCol="0" anchor="ctr"/>
          <a:lstStyle/>
          <a:p>
            <a:pPr indent="0" marL="0">
              <a:buNone/>
            </a:pPr>
            <a:r>
              <a:rPr lang="en-US" sz="1300" b="1" dirty="0">
                <a:solidFill>
                  <a:srgbClr val="FFFFFF"/>
                </a:solidFill>
              </a:rPr>
              <a:t>Business Insights</a:t>
            </a:r>
            <a:endParaRPr lang="en-US" sz="1300" dirty="0"/>
          </a:p>
        </p:txBody>
      </p:sp>
      <p:sp>
        <p:nvSpPr>
          <p:cNvPr id="23" name="Text 21"/>
          <p:cNvSpPr/>
          <p:nvPr/>
        </p:nvSpPr>
        <p:spPr>
          <a:xfrm>
            <a:off x="4919472" y="3364992"/>
            <a:ext cx="3840480" cy="1325880"/>
          </a:xfrm>
          <a:prstGeom prst="rect">
            <a:avLst/>
          </a:prstGeom>
          <a:noFill/>
          <a:ln/>
        </p:spPr>
        <p:txBody>
          <a:bodyPr wrap="square" lIns="0" tIns="0" rIns="0" bIns="0" rtlCol="0" anchor="ctr"/>
          <a:lstStyle/>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Key Finding 1 + Chart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Key Finding 2 + Chart</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Retention Recommendations</a:t>
            </a:r>
            <a:endParaRPr lang="en-US" sz="1100" dirty="0"/>
          </a:p>
          <a:p>
            <a:pPr marL="342900" indent="-342900">
              <a:buSzPct val="100000"/>
              <a:buChar char="•"/>
            </a:pPr>
            <a:r>
              <a:rPr lang="en-US" sz="1100" dirty="0">
                <a:solidFill>
                  <a:srgbClr val="0D1B2A"/>
                </a:solidFill>
                <a:latin typeface="Calibri" pitchFamily="34" charset="0"/>
                <a:ea typeface="Calibri" pitchFamily="34" charset="-122"/>
                <a:cs typeface="Calibri" pitchFamily="34" charset="-120"/>
              </a:rPr>
              <a:t>Action Priority Matrix</a:t>
            </a:r>
            <a:endParaRPr lang="en-US" sz="1100" dirty="0"/>
          </a:p>
        </p:txBody>
      </p:sp>
      <p:sp>
        <p:nvSpPr>
          <p:cNvPr id="24" name="Shape 22"/>
          <p:cNvSpPr/>
          <p:nvPr/>
        </p:nvSpPr>
        <p:spPr>
          <a:xfrm>
            <a:off x="320040" y="4681728"/>
            <a:ext cx="8503920" cy="347472"/>
          </a:xfrm>
          <a:prstGeom prst="rect">
            <a:avLst/>
          </a:prstGeom>
          <a:solidFill>
            <a:srgbClr val="ECEFF1"/>
          </a:solidFill>
          <a:ln w="12700">
            <a:solidFill>
              <a:srgbClr val="D0D7DE"/>
            </a:solidFill>
            <a:prstDash val="solid"/>
          </a:ln>
        </p:spPr>
      </p:sp>
      <p:sp>
        <p:nvSpPr>
          <p:cNvPr id="25" name="Text 23"/>
          <p:cNvSpPr/>
          <p:nvPr/>
        </p:nvSpPr>
        <p:spPr>
          <a:xfrm>
            <a:off x="411480" y="4709160"/>
            <a:ext cx="8321040" cy="292608"/>
          </a:xfrm>
          <a:prstGeom prst="rect">
            <a:avLst/>
          </a:prstGeom>
          <a:noFill/>
          <a:ln/>
        </p:spPr>
        <p:txBody>
          <a:bodyPr wrap="square" lIns="0" tIns="0" rIns="0" bIns="0" rtlCol="0" anchor="ctr"/>
          <a:lstStyle/>
          <a:p>
            <a:pPr indent="0" marL="0">
              <a:buNone/>
            </a:pPr>
            <a:r>
              <a:rPr lang="en-US" sz="950" dirty="0">
                <a:solidFill>
                  <a:srgbClr val="0D1B2A"/>
                </a:solidFill>
                <a:latin typeface="Courier New" pitchFamily="34" charset="0"/>
                <a:ea typeface="Courier New" pitchFamily="34" charset="-122"/>
                <a:cs typeface="Courier New" pitchFamily="34" charset="-120"/>
              </a:rPr>
              <a:t>Key DAX Measures:  Churn Rate % = DIVIDE([Total Churned],[Total Customers],0)*100    |    Revenue At Risk = CALCULATE(SUM(MonthlyCharges), Churn="Yes")    |    Avg Tenure Churned = CALCULATE(AVERAGE(tenure), Churn="Yes")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05  |  Key Analytical Findings</a:t>
            </a:r>
            <a:endParaRPr lang="en-US" sz="2400" dirty="0"/>
          </a:p>
        </p:txBody>
      </p:sp>
      <p:sp>
        <p:nvSpPr>
          <p:cNvPr id="4" name="Shape 2"/>
          <p:cNvSpPr/>
          <p:nvPr/>
        </p:nvSpPr>
        <p:spPr>
          <a:xfrm>
            <a:off x="320040" y="77724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73152" cy="1280160"/>
          </a:xfrm>
          <a:prstGeom prst="rect">
            <a:avLst/>
          </a:prstGeom>
          <a:solidFill>
            <a:srgbClr val="E53935"/>
          </a:solidFill>
          <a:ln w="12700">
            <a:solidFill>
              <a:srgbClr val="E53935"/>
            </a:solidFill>
            <a:prstDash val="solid"/>
          </a:ln>
        </p:spPr>
      </p:sp>
      <p:sp>
        <p:nvSpPr>
          <p:cNvPr id="6" name="Text 4"/>
          <p:cNvSpPr/>
          <p:nvPr/>
        </p:nvSpPr>
        <p:spPr>
          <a:xfrm>
            <a:off x="457200" y="82296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Shape 5"/>
          <p:cNvSpPr/>
          <p:nvPr/>
        </p:nvSpPr>
        <p:spPr>
          <a:xfrm>
            <a:off x="3611880" y="868680"/>
            <a:ext cx="749808" cy="256032"/>
          </a:xfrm>
          <a:prstGeom prst="rect">
            <a:avLst/>
          </a:prstGeom>
          <a:solidFill>
            <a:srgbClr val="E53935"/>
          </a:solidFill>
          <a:ln w="12700">
            <a:solidFill>
              <a:srgbClr val="E53935"/>
            </a:solidFill>
            <a:prstDash val="solid"/>
          </a:ln>
        </p:spPr>
      </p:sp>
      <p:sp>
        <p:nvSpPr>
          <p:cNvPr id="8" name="Text 6"/>
          <p:cNvSpPr/>
          <p:nvPr/>
        </p:nvSpPr>
        <p:spPr>
          <a:xfrm>
            <a:off x="3611880" y="86868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High Impact</a:t>
            </a:r>
            <a:endParaRPr lang="en-US" sz="850" dirty="0"/>
          </a:p>
        </p:txBody>
      </p:sp>
      <p:sp>
        <p:nvSpPr>
          <p:cNvPr id="9" name="Text 7"/>
          <p:cNvSpPr/>
          <p:nvPr/>
        </p:nvSpPr>
        <p:spPr>
          <a:xfrm>
            <a:off x="1005840" y="85039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Contract Type is the #1 Churn Driver</a:t>
            </a:r>
            <a:endParaRPr lang="en-US" sz="1200" dirty="0"/>
          </a:p>
        </p:txBody>
      </p:sp>
      <p:sp>
        <p:nvSpPr>
          <p:cNvPr id="10" name="Text 8"/>
          <p:cNvSpPr/>
          <p:nvPr/>
        </p:nvSpPr>
        <p:spPr>
          <a:xfrm>
            <a:off x="457200" y="1371600"/>
            <a:ext cx="3840480" cy="621792"/>
          </a:xfrm>
          <a:prstGeom prst="rect">
            <a:avLst/>
          </a:prstGeom>
          <a:noFill/>
          <a:ln/>
        </p:spPr>
        <p:txBody>
          <a:bodyPr wrap="square" lIns="0" tIns="0" rIns="0" bIns="0" rtlCol="0" anchor="ctr"/>
          <a:lstStyle/>
          <a:p>
            <a:pPr indent="0" marL="0">
              <a:buNone/>
            </a:pPr>
            <a:r>
              <a:rPr lang="en-US" sz="1050" dirty="0">
                <a:solidFill>
                  <a:srgbClr val="607D8B"/>
                </a:solidFill>
              </a:rPr>
              <a:t>Month-to-month customers churn at 42.7% vs only 2.8% for 2-year contracts — a 15x difference.</a:t>
            </a:r>
            <a:endParaRPr lang="en-US" sz="1050" dirty="0"/>
          </a:p>
        </p:txBody>
      </p:sp>
      <p:sp>
        <p:nvSpPr>
          <p:cNvPr id="11" name="Shape 9"/>
          <p:cNvSpPr/>
          <p:nvPr/>
        </p:nvSpPr>
        <p:spPr>
          <a:xfrm>
            <a:off x="4754880" y="77724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754880" y="777240"/>
            <a:ext cx="73152" cy="1280160"/>
          </a:xfrm>
          <a:prstGeom prst="rect">
            <a:avLst/>
          </a:prstGeom>
          <a:solidFill>
            <a:srgbClr val="E53935"/>
          </a:solidFill>
          <a:ln w="12700">
            <a:solidFill>
              <a:srgbClr val="E53935"/>
            </a:solidFill>
            <a:prstDash val="solid"/>
          </a:ln>
        </p:spPr>
      </p:sp>
      <p:sp>
        <p:nvSpPr>
          <p:cNvPr id="13" name="Text 11"/>
          <p:cNvSpPr/>
          <p:nvPr/>
        </p:nvSpPr>
        <p:spPr>
          <a:xfrm>
            <a:off x="4892040" y="82296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Shape 12"/>
          <p:cNvSpPr/>
          <p:nvPr/>
        </p:nvSpPr>
        <p:spPr>
          <a:xfrm>
            <a:off x="8046720" y="868680"/>
            <a:ext cx="749808" cy="256032"/>
          </a:xfrm>
          <a:prstGeom prst="rect">
            <a:avLst/>
          </a:prstGeom>
          <a:solidFill>
            <a:srgbClr val="E53935"/>
          </a:solidFill>
          <a:ln w="12700">
            <a:solidFill>
              <a:srgbClr val="E53935"/>
            </a:solidFill>
            <a:prstDash val="solid"/>
          </a:ln>
        </p:spPr>
      </p:sp>
      <p:sp>
        <p:nvSpPr>
          <p:cNvPr id="15" name="Text 13"/>
          <p:cNvSpPr/>
          <p:nvPr/>
        </p:nvSpPr>
        <p:spPr>
          <a:xfrm>
            <a:off x="8046720" y="86868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High Impact</a:t>
            </a:r>
            <a:endParaRPr lang="en-US" sz="850" dirty="0"/>
          </a:p>
        </p:txBody>
      </p:sp>
      <p:sp>
        <p:nvSpPr>
          <p:cNvPr id="16" name="Text 14"/>
          <p:cNvSpPr/>
          <p:nvPr/>
        </p:nvSpPr>
        <p:spPr>
          <a:xfrm>
            <a:off x="5440680" y="85039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First 12 Months = Critical Retention Window</a:t>
            </a:r>
            <a:endParaRPr lang="en-US" sz="1200" dirty="0"/>
          </a:p>
        </p:txBody>
      </p:sp>
      <p:sp>
        <p:nvSpPr>
          <p:cNvPr id="17" name="Text 15"/>
          <p:cNvSpPr/>
          <p:nvPr/>
        </p:nvSpPr>
        <p:spPr>
          <a:xfrm>
            <a:off x="4892040" y="1371600"/>
            <a:ext cx="3840480" cy="621792"/>
          </a:xfrm>
          <a:prstGeom prst="rect">
            <a:avLst/>
          </a:prstGeom>
          <a:noFill/>
          <a:ln/>
        </p:spPr>
        <p:txBody>
          <a:bodyPr wrap="square" lIns="0" tIns="0" rIns="0" bIns="0" rtlCol="0" anchor="ctr"/>
          <a:lstStyle/>
          <a:p>
            <a:pPr indent="0" marL="0">
              <a:buNone/>
            </a:pPr>
            <a:r>
              <a:rPr lang="en-US" sz="1050" dirty="0">
                <a:solidFill>
                  <a:srgbClr val="607D8B"/>
                </a:solidFill>
              </a:rPr>
              <a:t>New customers churn at 47.4%. If a customer stays past year 1, churn risk drops dramatically.</a:t>
            </a:r>
            <a:endParaRPr lang="en-US" sz="1050" dirty="0"/>
          </a:p>
        </p:txBody>
      </p:sp>
      <p:sp>
        <p:nvSpPr>
          <p:cNvPr id="18" name="Shape 16"/>
          <p:cNvSpPr/>
          <p:nvPr/>
        </p:nvSpPr>
        <p:spPr>
          <a:xfrm>
            <a:off x="320040" y="219456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320040" y="2194560"/>
            <a:ext cx="73152" cy="1280160"/>
          </a:xfrm>
          <a:prstGeom prst="rect">
            <a:avLst/>
          </a:prstGeom>
          <a:solidFill>
            <a:srgbClr val="E53935"/>
          </a:solidFill>
          <a:ln w="12700">
            <a:solidFill>
              <a:srgbClr val="E53935"/>
            </a:solidFill>
            <a:prstDash val="solid"/>
          </a:ln>
        </p:spPr>
      </p:sp>
      <p:sp>
        <p:nvSpPr>
          <p:cNvPr id="20" name="Text 18"/>
          <p:cNvSpPr/>
          <p:nvPr/>
        </p:nvSpPr>
        <p:spPr>
          <a:xfrm>
            <a:off x="457200" y="224028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Shape 19"/>
          <p:cNvSpPr/>
          <p:nvPr/>
        </p:nvSpPr>
        <p:spPr>
          <a:xfrm>
            <a:off x="3611880" y="2286000"/>
            <a:ext cx="749808" cy="256032"/>
          </a:xfrm>
          <a:prstGeom prst="rect">
            <a:avLst/>
          </a:prstGeom>
          <a:solidFill>
            <a:srgbClr val="E53935"/>
          </a:solidFill>
          <a:ln w="12700">
            <a:solidFill>
              <a:srgbClr val="E53935"/>
            </a:solidFill>
            <a:prstDash val="solid"/>
          </a:ln>
        </p:spPr>
      </p:sp>
      <p:sp>
        <p:nvSpPr>
          <p:cNvPr id="22" name="Text 20"/>
          <p:cNvSpPr/>
          <p:nvPr/>
        </p:nvSpPr>
        <p:spPr>
          <a:xfrm>
            <a:off x="3611880" y="228600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High Impact</a:t>
            </a:r>
            <a:endParaRPr lang="en-US" sz="850" dirty="0"/>
          </a:p>
        </p:txBody>
      </p:sp>
      <p:sp>
        <p:nvSpPr>
          <p:cNvPr id="23" name="Text 21"/>
          <p:cNvSpPr/>
          <p:nvPr/>
        </p:nvSpPr>
        <p:spPr>
          <a:xfrm>
            <a:off x="1005840" y="226771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Fiber Optic = High Payment, High Churn</a:t>
            </a:r>
            <a:endParaRPr lang="en-US" sz="1200" dirty="0"/>
          </a:p>
        </p:txBody>
      </p:sp>
      <p:sp>
        <p:nvSpPr>
          <p:cNvPr id="24" name="Text 22"/>
          <p:cNvSpPr/>
          <p:nvPr/>
        </p:nvSpPr>
        <p:spPr>
          <a:xfrm>
            <a:off x="457200" y="2788920"/>
            <a:ext cx="3840480" cy="621792"/>
          </a:xfrm>
          <a:prstGeom prst="rect">
            <a:avLst/>
          </a:prstGeom>
          <a:noFill/>
          <a:ln/>
        </p:spPr>
        <p:txBody>
          <a:bodyPr wrap="square" lIns="0" tIns="0" rIns="0" bIns="0" rtlCol="0" anchor="ctr"/>
          <a:lstStyle/>
          <a:p>
            <a:pPr indent="0" marL="0">
              <a:buNone/>
            </a:pPr>
            <a:r>
              <a:rPr lang="en-US" sz="1050" dirty="0">
                <a:solidFill>
                  <a:srgbClr val="607D8B"/>
                </a:solidFill>
              </a:rPr>
              <a:t>Fiber optic users pay the most but churn at 41.9% — suggesting a perceived value or service quality issue.</a:t>
            </a:r>
            <a:endParaRPr lang="en-US" sz="1050" dirty="0"/>
          </a:p>
        </p:txBody>
      </p:sp>
      <p:sp>
        <p:nvSpPr>
          <p:cNvPr id="25" name="Shape 23"/>
          <p:cNvSpPr/>
          <p:nvPr/>
        </p:nvSpPr>
        <p:spPr>
          <a:xfrm>
            <a:off x="4754880" y="219456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754880" y="2194560"/>
            <a:ext cx="73152" cy="1280160"/>
          </a:xfrm>
          <a:prstGeom prst="rect">
            <a:avLst/>
          </a:prstGeom>
          <a:solidFill>
            <a:srgbClr val="F57F17"/>
          </a:solidFill>
          <a:ln w="12700">
            <a:solidFill>
              <a:srgbClr val="F57F17"/>
            </a:solidFill>
            <a:prstDash val="solid"/>
          </a:ln>
        </p:spPr>
      </p:sp>
      <p:sp>
        <p:nvSpPr>
          <p:cNvPr id="27" name="Text 25"/>
          <p:cNvSpPr/>
          <p:nvPr/>
        </p:nvSpPr>
        <p:spPr>
          <a:xfrm>
            <a:off x="4892040" y="224028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8" name="Shape 26"/>
          <p:cNvSpPr/>
          <p:nvPr/>
        </p:nvSpPr>
        <p:spPr>
          <a:xfrm>
            <a:off x="8046720" y="2286000"/>
            <a:ext cx="749808" cy="256032"/>
          </a:xfrm>
          <a:prstGeom prst="rect">
            <a:avLst/>
          </a:prstGeom>
          <a:solidFill>
            <a:srgbClr val="F57F17"/>
          </a:solidFill>
          <a:ln w="12700">
            <a:solidFill>
              <a:srgbClr val="F57F17"/>
            </a:solidFill>
            <a:prstDash val="solid"/>
          </a:ln>
        </p:spPr>
      </p:sp>
      <p:sp>
        <p:nvSpPr>
          <p:cNvPr id="29" name="Text 27"/>
          <p:cNvSpPr/>
          <p:nvPr/>
        </p:nvSpPr>
        <p:spPr>
          <a:xfrm>
            <a:off x="8046720" y="228600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Medium Impact</a:t>
            </a:r>
            <a:endParaRPr lang="en-US" sz="850" dirty="0"/>
          </a:p>
        </p:txBody>
      </p:sp>
      <p:sp>
        <p:nvSpPr>
          <p:cNvPr id="30" name="Text 28"/>
          <p:cNvSpPr/>
          <p:nvPr/>
        </p:nvSpPr>
        <p:spPr>
          <a:xfrm>
            <a:off x="5440680" y="226771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Electronic Check = Friction Signal</a:t>
            </a:r>
            <a:endParaRPr lang="en-US" sz="1200" dirty="0"/>
          </a:p>
        </p:txBody>
      </p:sp>
      <p:sp>
        <p:nvSpPr>
          <p:cNvPr id="31" name="Text 29"/>
          <p:cNvSpPr/>
          <p:nvPr/>
        </p:nvSpPr>
        <p:spPr>
          <a:xfrm>
            <a:off x="4892040" y="2788920"/>
            <a:ext cx="3840480" cy="621792"/>
          </a:xfrm>
          <a:prstGeom prst="rect">
            <a:avLst/>
          </a:prstGeom>
          <a:noFill/>
          <a:ln/>
        </p:spPr>
        <p:txBody>
          <a:bodyPr wrap="square" lIns="0" tIns="0" rIns="0" bIns="0" rtlCol="0" anchor="ctr"/>
          <a:lstStyle/>
          <a:p>
            <a:pPr indent="0" marL="0">
              <a:buNone/>
            </a:pPr>
            <a:r>
              <a:rPr lang="en-US" sz="1050" dirty="0">
                <a:solidFill>
                  <a:srgbClr val="607D8B"/>
                </a:solidFill>
              </a:rPr>
              <a:t>Customers paying by electronic check churn at 45.3% — significantly above credit card (15.2%).</a:t>
            </a:r>
            <a:endParaRPr lang="en-US" sz="1050" dirty="0"/>
          </a:p>
        </p:txBody>
      </p:sp>
      <p:sp>
        <p:nvSpPr>
          <p:cNvPr id="32" name="Shape 30"/>
          <p:cNvSpPr/>
          <p:nvPr/>
        </p:nvSpPr>
        <p:spPr>
          <a:xfrm>
            <a:off x="320040" y="361188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320040" y="3611880"/>
            <a:ext cx="73152" cy="1280160"/>
          </a:xfrm>
          <a:prstGeom prst="rect">
            <a:avLst/>
          </a:prstGeom>
          <a:solidFill>
            <a:srgbClr val="F57F17"/>
          </a:solidFill>
          <a:ln w="12700">
            <a:solidFill>
              <a:srgbClr val="F57F17"/>
            </a:solidFill>
            <a:prstDash val="solid"/>
          </a:ln>
        </p:spPr>
      </p:sp>
      <p:sp>
        <p:nvSpPr>
          <p:cNvPr id="34" name="Text 32"/>
          <p:cNvSpPr/>
          <p:nvPr/>
        </p:nvSpPr>
        <p:spPr>
          <a:xfrm>
            <a:off x="457200" y="36576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5" name="Shape 33"/>
          <p:cNvSpPr/>
          <p:nvPr/>
        </p:nvSpPr>
        <p:spPr>
          <a:xfrm>
            <a:off x="3611880" y="3703320"/>
            <a:ext cx="749808" cy="256032"/>
          </a:xfrm>
          <a:prstGeom prst="rect">
            <a:avLst/>
          </a:prstGeom>
          <a:solidFill>
            <a:srgbClr val="F57F17"/>
          </a:solidFill>
          <a:ln w="12700">
            <a:solidFill>
              <a:srgbClr val="F57F17"/>
            </a:solidFill>
            <a:prstDash val="solid"/>
          </a:ln>
        </p:spPr>
      </p:sp>
      <p:sp>
        <p:nvSpPr>
          <p:cNvPr id="36" name="Text 34"/>
          <p:cNvSpPr/>
          <p:nvPr/>
        </p:nvSpPr>
        <p:spPr>
          <a:xfrm>
            <a:off x="3611880" y="370332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Medium Impact</a:t>
            </a:r>
            <a:endParaRPr lang="en-US" sz="850" dirty="0"/>
          </a:p>
        </p:txBody>
      </p:sp>
      <p:sp>
        <p:nvSpPr>
          <p:cNvPr id="37" name="Text 35"/>
          <p:cNvSpPr/>
          <p:nvPr/>
        </p:nvSpPr>
        <p:spPr>
          <a:xfrm>
            <a:off x="1005840" y="368503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Senior Citizens Are Highest Revenue Risk</a:t>
            </a:r>
            <a:endParaRPr lang="en-US" sz="1200" dirty="0"/>
          </a:p>
        </p:txBody>
      </p:sp>
      <p:sp>
        <p:nvSpPr>
          <p:cNvPr id="38" name="Text 36"/>
          <p:cNvSpPr/>
          <p:nvPr/>
        </p:nvSpPr>
        <p:spPr>
          <a:xfrm>
            <a:off x="457200" y="4206240"/>
            <a:ext cx="3840480" cy="621792"/>
          </a:xfrm>
          <a:prstGeom prst="rect">
            <a:avLst/>
          </a:prstGeom>
          <a:noFill/>
          <a:ln/>
        </p:spPr>
        <p:txBody>
          <a:bodyPr wrap="square" lIns="0" tIns="0" rIns="0" bIns="0" rtlCol="0" anchor="ctr"/>
          <a:lstStyle/>
          <a:p>
            <a:pPr indent="0" marL="0">
              <a:buNone/>
            </a:pPr>
            <a:r>
              <a:rPr lang="en-US" sz="1050" dirty="0">
                <a:solidFill>
                  <a:srgbClr val="607D8B"/>
                </a:solidFill>
              </a:rPr>
              <a:t>Senior citizens on month-to-month fiber plans have both highest churn rate AND highest monthly charges.</a:t>
            </a:r>
            <a:endParaRPr lang="en-US" sz="1050" dirty="0"/>
          </a:p>
        </p:txBody>
      </p:sp>
      <p:sp>
        <p:nvSpPr>
          <p:cNvPr id="39" name="Shape 37"/>
          <p:cNvSpPr/>
          <p:nvPr/>
        </p:nvSpPr>
        <p:spPr>
          <a:xfrm>
            <a:off x="4754880" y="3611880"/>
            <a:ext cx="4160520" cy="1280160"/>
          </a:xfrm>
          <a:prstGeom prst="rect">
            <a:avLst/>
          </a:prstGeom>
          <a:solidFill>
            <a:srgbClr val="ECEFF1"/>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4754880" y="3611880"/>
            <a:ext cx="73152" cy="1280160"/>
          </a:xfrm>
          <a:prstGeom prst="rect">
            <a:avLst/>
          </a:prstGeom>
          <a:solidFill>
            <a:srgbClr val="E53935"/>
          </a:solidFill>
          <a:ln w="12700">
            <a:solidFill>
              <a:srgbClr val="E53935"/>
            </a:solidFill>
            <a:prstDash val="solid"/>
          </a:ln>
        </p:spPr>
      </p:sp>
      <p:sp>
        <p:nvSpPr>
          <p:cNvPr id="41" name="Text 39"/>
          <p:cNvSpPr/>
          <p:nvPr/>
        </p:nvSpPr>
        <p:spPr>
          <a:xfrm>
            <a:off x="4892040" y="36576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2" name="Shape 40"/>
          <p:cNvSpPr/>
          <p:nvPr/>
        </p:nvSpPr>
        <p:spPr>
          <a:xfrm>
            <a:off x="8046720" y="3703320"/>
            <a:ext cx="749808" cy="256032"/>
          </a:xfrm>
          <a:prstGeom prst="rect">
            <a:avLst/>
          </a:prstGeom>
          <a:solidFill>
            <a:srgbClr val="E53935"/>
          </a:solidFill>
          <a:ln w="12700">
            <a:solidFill>
              <a:srgbClr val="E53935"/>
            </a:solidFill>
            <a:prstDash val="solid"/>
          </a:ln>
        </p:spPr>
      </p:sp>
      <p:sp>
        <p:nvSpPr>
          <p:cNvPr id="43" name="Text 41"/>
          <p:cNvSpPr/>
          <p:nvPr/>
        </p:nvSpPr>
        <p:spPr>
          <a:xfrm>
            <a:off x="8046720" y="3703320"/>
            <a:ext cx="749808" cy="256032"/>
          </a:xfrm>
          <a:prstGeom prst="rect">
            <a:avLst/>
          </a:prstGeom>
          <a:noFill/>
          <a:ln/>
        </p:spPr>
        <p:txBody>
          <a:bodyPr wrap="square" lIns="0" tIns="0" rIns="0" bIns="0" rtlCol="0" anchor="ctr"/>
          <a:lstStyle/>
          <a:p>
            <a:pPr algn="ctr" indent="0" marL="0">
              <a:buNone/>
            </a:pPr>
            <a:r>
              <a:rPr lang="en-US" sz="850" dirty="0">
                <a:solidFill>
                  <a:srgbClr val="FFFFFF"/>
                </a:solidFill>
              </a:rPr>
              <a:t>High Impact</a:t>
            </a:r>
            <a:endParaRPr lang="en-US" sz="850" dirty="0"/>
          </a:p>
        </p:txBody>
      </p:sp>
      <p:sp>
        <p:nvSpPr>
          <p:cNvPr id="44" name="Text 42"/>
          <p:cNvSpPr/>
          <p:nvPr/>
        </p:nvSpPr>
        <p:spPr>
          <a:xfrm>
            <a:off x="5440680" y="3685032"/>
            <a:ext cx="2542032" cy="365760"/>
          </a:xfrm>
          <a:prstGeom prst="rect">
            <a:avLst/>
          </a:prstGeom>
          <a:noFill/>
          <a:ln/>
        </p:spPr>
        <p:txBody>
          <a:bodyPr wrap="square" lIns="0" tIns="0" rIns="0" bIns="0" rtlCol="0" anchor="ctr"/>
          <a:lstStyle/>
          <a:p>
            <a:pPr indent="0" marL="0">
              <a:buNone/>
            </a:pPr>
            <a:r>
              <a:rPr lang="en-US" sz="1200" b="1" dirty="0">
                <a:solidFill>
                  <a:srgbClr val="0D1B2A"/>
                </a:solidFill>
              </a:rPr>
              <a:t>Revenue at Risk Quantified</a:t>
            </a:r>
            <a:endParaRPr lang="en-US" sz="1200" dirty="0"/>
          </a:p>
        </p:txBody>
      </p:sp>
      <p:sp>
        <p:nvSpPr>
          <p:cNvPr id="45" name="Text 43"/>
          <p:cNvSpPr/>
          <p:nvPr/>
        </p:nvSpPr>
        <p:spPr>
          <a:xfrm>
            <a:off x="4892040" y="4206240"/>
            <a:ext cx="3840480" cy="621792"/>
          </a:xfrm>
          <a:prstGeom prst="rect">
            <a:avLst/>
          </a:prstGeom>
          <a:noFill/>
          <a:ln/>
        </p:spPr>
        <p:txBody>
          <a:bodyPr wrap="square" lIns="0" tIns="0" rIns="0" bIns="0" rtlCol="0" anchor="ctr"/>
          <a:lstStyle/>
          <a:p>
            <a:pPr indent="0" marL="0">
              <a:buNone/>
            </a:pPr>
            <a:r>
              <a:rPr lang="en-US" sz="1050" dirty="0">
                <a:solidFill>
                  <a:srgbClr val="607D8B"/>
                </a:solidFill>
              </a:rPr>
              <a:t>26.5% churn rate × avg $64.76/month = significant monthly revenue exposure from preventable churn.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65760" y="109728"/>
            <a:ext cx="8229600" cy="438912"/>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06  |  Business Recommendations</a:t>
            </a:r>
            <a:endParaRPr lang="en-US" sz="2400" dirty="0"/>
          </a:p>
        </p:txBody>
      </p:sp>
      <p:sp>
        <p:nvSpPr>
          <p:cNvPr id="4" name="Shape 2"/>
          <p:cNvSpPr/>
          <p:nvPr/>
        </p:nvSpPr>
        <p:spPr>
          <a:xfrm>
            <a:off x="320040" y="777240"/>
            <a:ext cx="8503920" cy="96012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777240"/>
            <a:ext cx="1371600" cy="960120"/>
          </a:xfrm>
          <a:prstGeom prst="rect">
            <a:avLst/>
          </a:prstGeom>
          <a:solidFill>
            <a:srgbClr val="E53935"/>
          </a:solidFill>
          <a:ln w="12700">
            <a:solidFill>
              <a:srgbClr val="E53935"/>
            </a:solidFill>
            <a:prstDash val="solid"/>
          </a:ln>
        </p:spPr>
      </p:sp>
      <p:sp>
        <p:nvSpPr>
          <p:cNvPr id="6" name="Text 4"/>
          <p:cNvSpPr/>
          <p:nvPr/>
        </p:nvSpPr>
        <p:spPr>
          <a:xfrm>
            <a:off x="320040" y="88696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Priority 1</a:t>
            </a:r>
            <a:endParaRPr lang="en-US" sz="1100" dirty="0"/>
          </a:p>
        </p:txBody>
      </p:sp>
      <p:sp>
        <p:nvSpPr>
          <p:cNvPr id="7" name="Text 5"/>
          <p:cNvSpPr/>
          <p:nvPr/>
        </p:nvSpPr>
        <p:spPr>
          <a:xfrm>
            <a:off x="1783080" y="850392"/>
            <a:ext cx="3657600" cy="347472"/>
          </a:xfrm>
          <a:prstGeom prst="rect">
            <a:avLst/>
          </a:prstGeom>
          <a:noFill/>
          <a:ln/>
        </p:spPr>
        <p:txBody>
          <a:bodyPr wrap="square" lIns="0" tIns="0" rIns="0" bIns="0" rtlCol="0" anchor="ctr"/>
          <a:lstStyle/>
          <a:p>
            <a:pPr indent="0" marL="0">
              <a:buNone/>
            </a:pPr>
            <a:r>
              <a:rPr lang="en-US" sz="1300" b="1" dirty="0">
                <a:solidFill>
                  <a:srgbClr val="0D1B2A"/>
                </a:solidFill>
              </a:rPr>
              <a:t>Incentivize Long-Term Contracts</a:t>
            </a:r>
            <a:endParaRPr lang="en-US" sz="1300" dirty="0"/>
          </a:p>
        </p:txBody>
      </p:sp>
      <p:sp>
        <p:nvSpPr>
          <p:cNvPr id="8" name="Text 6"/>
          <p:cNvSpPr/>
          <p:nvPr/>
        </p:nvSpPr>
        <p:spPr>
          <a:xfrm>
            <a:off x="1783080" y="1216152"/>
            <a:ext cx="3840480" cy="457200"/>
          </a:xfrm>
          <a:prstGeom prst="rect">
            <a:avLst/>
          </a:prstGeom>
          <a:noFill/>
          <a:ln/>
        </p:spPr>
        <p:txBody>
          <a:bodyPr wrap="square" lIns="0" tIns="0" rIns="0" bIns="0" rtlCol="0" anchor="ctr"/>
          <a:lstStyle/>
          <a:p>
            <a:pPr indent="0" marL="0">
              <a:buNone/>
            </a:pPr>
            <a:r>
              <a:rPr lang="en-US" sz="1050" dirty="0">
                <a:solidFill>
                  <a:srgbClr val="607D8B"/>
                </a:solidFill>
              </a:rPr>
              <a:t>Action: Offer 10-15% discount for customers upgrading from month-to-month to 1-year or 2-year contracts.</a:t>
            </a:r>
            <a:endParaRPr lang="en-US" sz="1050" dirty="0"/>
          </a:p>
        </p:txBody>
      </p:sp>
      <p:sp>
        <p:nvSpPr>
          <p:cNvPr id="9" name="Shape 7"/>
          <p:cNvSpPr/>
          <p:nvPr/>
        </p:nvSpPr>
        <p:spPr>
          <a:xfrm>
            <a:off x="5760720" y="832104"/>
            <a:ext cx="2926080" cy="365760"/>
          </a:xfrm>
          <a:prstGeom prst="rect">
            <a:avLst/>
          </a:prstGeom>
          <a:solidFill>
            <a:srgbClr val="ECEFF1"/>
          </a:solidFill>
          <a:ln w="12700">
            <a:solidFill>
              <a:srgbClr val="D0D7DE"/>
            </a:solidFill>
            <a:prstDash val="solid"/>
          </a:ln>
        </p:spPr>
      </p:sp>
      <p:sp>
        <p:nvSpPr>
          <p:cNvPr id="10" name="Text 8"/>
          <p:cNvSpPr/>
          <p:nvPr/>
        </p:nvSpPr>
        <p:spPr>
          <a:xfrm>
            <a:off x="5806440" y="850392"/>
            <a:ext cx="2834640" cy="347472"/>
          </a:xfrm>
          <a:prstGeom prst="rect">
            <a:avLst/>
          </a:prstGeom>
          <a:noFill/>
          <a:ln/>
        </p:spPr>
        <p:txBody>
          <a:bodyPr wrap="square" lIns="0" tIns="0" rIns="0" bIns="0" rtlCol="0" anchor="ctr"/>
          <a:lstStyle/>
          <a:p>
            <a:pPr indent="0" marL="0">
              <a:buNone/>
            </a:pPr>
            <a:r>
              <a:rPr lang="en-US" sz="1000" dirty="0">
                <a:solidFill>
                  <a:srgbClr val="0D1B2A"/>
                </a:solidFill>
              </a:rPr>
              <a:t>🎯 Month-to-month customers in first 6 months</a:t>
            </a:r>
            <a:endParaRPr lang="en-US" sz="1000" dirty="0"/>
          </a:p>
        </p:txBody>
      </p:sp>
      <p:sp>
        <p:nvSpPr>
          <p:cNvPr id="11" name="Shape 9"/>
          <p:cNvSpPr/>
          <p:nvPr/>
        </p:nvSpPr>
        <p:spPr>
          <a:xfrm>
            <a:off x="5760720" y="1289304"/>
            <a:ext cx="2926080" cy="365760"/>
          </a:xfrm>
          <a:prstGeom prst="rect">
            <a:avLst/>
          </a:prstGeom>
          <a:solidFill>
            <a:srgbClr val="E53935"/>
          </a:solidFill>
          <a:ln w="12700">
            <a:solidFill>
              <a:srgbClr val="E53935"/>
            </a:solidFill>
            <a:prstDash val="solid"/>
          </a:ln>
        </p:spPr>
      </p:sp>
      <p:sp>
        <p:nvSpPr>
          <p:cNvPr id="12" name="Text 10"/>
          <p:cNvSpPr/>
          <p:nvPr/>
        </p:nvSpPr>
        <p:spPr>
          <a:xfrm>
            <a:off x="5806440" y="1307592"/>
            <a:ext cx="2834640" cy="347472"/>
          </a:xfrm>
          <a:prstGeom prst="rect">
            <a:avLst/>
          </a:prstGeom>
          <a:noFill/>
          <a:ln/>
        </p:spPr>
        <p:txBody>
          <a:bodyPr wrap="square" lIns="0" tIns="0" rIns="0" bIns="0" rtlCol="0" anchor="ctr"/>
          <a:lstStyle/>
          <a:p>
            <a:pPr indent="0" marL="0">
              <a:buNone/>
            </a:pPr>
            <a:r>
              <a:rPr lang="en-US" sz="1000" dirty="0">
                <a:solidFill>
                  <a:srgbClr val="FFFFFF"/>
                </a:solidFill>
              </a:rPr>
              <a:t>📈 Reduce churn from 42.7% → 25%</a:t>
            </a:r>
            <a:endParaRPr lang="en-US" sz="1000" dirty="0"/>
          </a:p>
        </p:txBody>
      </p:sp>
      <p:sp>
        <p:nvSpPr>
          <p:cNvPr id="13" name="Shape 11"/>
          <p:cNvSpPr/>
          <p:nvPr/>
        </p:nvSpPr>
        <p:spPr>
          <a:xfrm>
            <a:off x="320040" y="1828800"/>
            <a:ext cx="8503920" cy="96012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20040" y="1828800"/>
            <a:ext cx="1371600" cy="960120"/>
          </a:xfrm>
          <a:prstGeom prst="rect">
            <a:avLst/>
          </a:prstGeom>
          <a:solidFill>
            <a:srgbClr val="F57F17"/>
          </a:solidFill>
          <a:ln w="12700">
            <a:solidFill>
              <a:srgbClr val="F57F17"/>
            </a:solidFill>
            <a:prstDash val="solid"/>
          </a:ln>
        </p:spPr>
      </p:sp>
      <p:sp>
        <p:nvSpPr>
          <p:cNvPr id="15" name="Text 13"/>
          <p:cNvSpPr/>
          <p:nvPr/>
        </p:nvSpPr>
        <p:spPr>
          <a:xfrm>
            <a:off x="320040" y="193852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Priority 2</a:t>
            </a:r>
            <a:endParaRPr lang="en-US" sz="1100" dirty="0"/>
          </a:p>
        </p:txBody>
      </p:sp>
      <p:sp>
        <p:nvSpPr>
          <p:cNvPr id="16" name="Text 14"/>
          <p:cNvSpPr/>
          <p:nvPr/>
        </p:nvSpPr>
        <p:spPr>
          <a:xfrm>
            <a:off x="1783080" y="1901952"/>
            <a:ext cx="3657600" cy="347472"/>
          </a:xfrm>
          <a:prstGeom prst="rect">
            <a:avLst/>
          </a:prstGeom>
          <a:noFill/>
          <a:ln/>
        </p:spPr>
        <p:txBody>
          <a:bodyPr wrap="square" lIns="0" tIns="0" rIns="0" bIns="0" rtlCol="0" anchor="ctr"/>
          <a:lstStyle/>
          <a:p>
            <a:pPr indent="0" marL="0">
              <a:buNone/>
            </a:pPr>
            <a:r>
              <a:rPr lang="en-US" sz="1300" b="1" dirty="0">
                <a:solidFill>
                  <a:srgbClr val="0D1B2A"/>
                </a:solidFill>
              </a:rPr>
              <a:t>New Customer Onboarding Program</a:t>
            </a:r>
            <a:endParaRPr lang="en-US" sz="1300" dirty="0"/>
          </a:p>
        </p:txBody>
      </p:sp>
      <p:sp>
        <p:nvSpPr>
          <p:cNvPr id="17" name="Text 15"/>
          <p:cNvSpPr/>
          <p:nvPr/>
        </p:nvSpPr>
        <p:spPr>
          <a:xfrm>
            <a:off x="1783080" y="2267712"/>
            <a:ext cx="3840480" cy="457200"/>
          </a:xfrm>
          <a:prstGeom prst="rect">
            <a:avLst/>
          </a:prstGeom>
          <a:noFill/>
          <a:ln/>
        </p:spPr>
        <p:txBody>
          <a:bodyPr wrap="square" lIns="0" tIns="0" rIns="0" bIns="0" rtlCol="0" anchor="ctr"/>
          <a:lstStyle/>
          <a:p>
            <a:pPr indent="0" marL="0">
              <a:buNone/>
            </a:pPr>
            <a:r>
              <a:rPr lang="en-US" sz="1050" dirty="0">
                <a:solidFill>
                  <a:srgbClr val="607D8B"/>
                </a:solidFill>
              </a:rPr>
              <a:t>Action: Dedicated support + proactive check-in calls for all customers in their first 12 months.</a:t>
            </a:r>
            <a:endParaRPr lang="en-US" sz="1050" dirty="0"/>
          </a:p>
        </p:txBody>
      </p:sp>
      <p:sp>
        <p:nvSpPr>
          <p:cNvPr id="18" name="Shape 16"/>
          <p:cNvSpPr/>
          <p:nvPr/>
        </p:nvSpPr>
        <p:spPr>
          <a:xfrm>
            <a:off x="5760720" y="1883664"/>
            <a:ext cx="2926080" cy="365760"/>
          </a:xfrm>
          <a:prstGeom prst="rect">
            <a:avLst/>
          </a:prstGeom>
          <a:solidFill>
            <a:srgbClr val="ECEFF1"/>
          </a:solidFill>
          <a:ln w="12700">
            <a:solidFill>
              <a:srgbClr val="D0D7DE"/>
            </a:solidFill>
            <a:prstDash val="solid"/>
          </a:ln>
        </p:spPr>
      </p:sp>
      <p:sp>
        <p:nvSpPr>
          <p:cNvPr id="19" name="Text 17"/>
          <p:cNvSpPr/>
          <p:nvPr/>
        </p:nvSpPr>
        <p:spPr>
          <a:xfrm>
            <a:off x="5806440" y="1901952"/>
            <a:ext cx="2834640" cy="347472"/>
          </a:xfrm>
          <a:prstGeom prst="rect">
            <a:avLst/>
          </a:prstGeom>
          <a:noFill/>
          <a:ln/>
        </p:spPr>
        <p:txBody>
          <a:bodyPr wrap="square" lIns="0" tIns="0" rIns="0" bIns="0" rtlCol="0" anchor="ctr"/>
          <a:lstStyle/>
          <a:p>
            <a:pPr indent="0" marL="0">
              <a:buNone/>
            </a:pPr>
            <a:r>
              <a:rPr lang="en-US" sz="1000" dirty="0">
                <a:solidFill>
                  <a:srgbClr val="0D1B2A"/>
                </a:solidFill>
              </a:rPr>
              <a:t>🎯 New customers (0-12 months tenure)</a:t>
            </a:r>
            <a:endParaRPr lang="en-US" sz="1000" dirty="0"/>
          </a:p>
        </p:txBody>
      </p:sp>
      <p:sp>
        <p:nvSpPr>
          <p:cNvPr id="20" name="Shape 18"/>
          <p:cNvSpPr/>
          <p:nvPr/>
        </p:nvSpPr>
        <p:spPr>
          <a:xfrm>
            <a:off x="5760720" y="2340864"/>
            <a:ext cx="2926080" cy="365760"/>
          </a:xfrm>
          <a:prstGeom prst="rect">
            <a:avLst/>
          </a:prstGeom>
          <a:solidFill>
            <a:srgbClr val="F57F17"/>
          </a:solidFill>
          <a:ln w="12700">
            <a:solidFill>
              <a:srgbClr val="F57F17"/>
            </a:solidFill>
            <a:prstDash val="solid"/>
          </a:ln>
        </p:spPr>
      </p:sp>
      <p:sp>
        <p:nvSpPr>
          <p:cNvPr id="21" name="Text 19"/>
          <p:cNvSpPr/>
          <p:nvPr/>
        </p:nvSpPr>
        <p:spPr>
          <a:xfrm>
            <a:off x="5806440" y="2359152"/>
            <a:ext cx="2834640" cy="347472"/>
          </a:xfrm>
          <a:prstGeom prst="rect">
            <a:avLst/>
          </a:prstGeom>
          <a:noFill/>
          <a:ln/>
        </p:spPr>
        <p:txBody>
          <a:bodyPr wrap="square" lIns="0" tIns="0" rIns="0" bIns="0" rtlCol="0" anchor="ctr"/>
          <a:lstStyle/>
          <a:p>
            <a:pPr indent="0" marL="0">
              <a:buNone/>
            </a:pPr>
            <a:r>
              <a:rPr lang="en-US" sz="1000" dirty="0">
                <a:solidFill>
                  <a:srgbClr val="FFFFFF"/>
                </a:solidFill>
              </a:rPr>
              <a:t>📈 Reduce new customer churn by 15-20%</a:t>
            </a:r>
            <a:endParaRPr lang="en-US" sz="1000" dirty="0"/>
          </a:p>
        </p:txBody>
      </p:sp>
      <p:sp>
        <p:nvSpPr>
          <p:cNvPr id="22" name="Shape 20"/>
          <p:cNvSpPr/>
          <p:nvPr/>
        </p:nvSpPr>
        <p:spPr>
          <a:xfrm>
            <a:off x="320040" y="2880360"/>
            <a:ext cx="8503920" cy="96012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320040" y="2880360"/>
            <a:ext cx="1371600" cy="960120"/>
          </a:xfrm>
          <a:prstGeom prst="rect">
            <a:avLst/>
          </a:prstGeom>
          <a:solidFill>
            <a:srgbClr val="1565C0"/>
          </a:solidFill>
          <a:ln w="12700">
            <a:solidFill>
              <a:srgbClr val="1565C0"/>
            </a:solidFill>
            <a:prstDash val="solid"/>
          </a:ln>
        </p:spPr>
      </p:sp>
      <p:sp>
        <p:nvSpPr>
          <p:cNvPr id="24" name="Text 22"/>
          <p:cNvSpPr/>
          <p:nvPr/>
        </p:nvSpPr>
        <p:spPr>
          <a:xfrm>
            <a:off x="320040" y="299008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Priority 3</a:t>
            </a:r>
            <a:endParaRPr lang="en-US" sz="1100" dirty="0"/>
          </a:p>
        </p:txBody>
      </p:sp>
      <p:sp>
        <p:nvSpPr>
          <p:cNvPr id="25" name="Text 23"/>
          <p:cNvSpPr/>
          <p:nvPr/>
        </p:nvSpPr>
        <p:spPr>
          <a:xfrm>
            <a:off x="1783080" y="2953512"/>
            <a:ext cx="3657600" cy="347472"/>
          </a:xfrm>
          <a:prstGeom prst="rect">
            <a:avLst/>
          </a:prstGeom>
          <a:noFill/>
          <a:ln/>
        </p:spPr>
        <p:txBody>
          <a:bodyPr wrap="square" lIns="0" tIns="0" rIns="0" bIns="0" rtlCol="0" anchor="ctr"/>
          <a:lstStyle/>
          <a:p>
            <a:pPr indent="0" marL="0">
              <a:buNone/>
            </a:pPr>
            <a:r>
              <a:rPr lang="en-US" sz="1300" b="1" dirty="0">
                <a:solidFill>
                  <a:srgbClr val="0D1B2A"/>
                </a:solidFill>
              </a:rPr>
              <a:t>Investigate Fiber Optic Quality</a:t>
            </a:r>
            <a:endParaRPr lang="en-US" sz="1300" dirty="0"/>
          </a:p>
        </p:txBody>
      </p:sp>
      <p:sp>
        <p:nvSpPr>
          <p:cNvPr id="26" name="Text 24"/>
          <p:cNvSpPr/>
          <p:nvPr/>
        </p:nvSpPr>
        <p:spPr>
          <a:xfrm>
            <a:off x="1783080" y="3319272"/>
            <a:ext cx="3840480" cy="457200"/>
          </a:xfrm>
          <a:prstGeom prst="rect">
            <a:avLst/>
          </a:prstGeom>
          <a:noFill/>
          <a:ln/>
        </p:spPr>
        <p:txBody>
          <a:bodyPr wrap="square" lIns="0" tIns="0" rIns="0" bIns="0" rtlCol="0" anchor="ctr"/>
          <a:lstStyle/>
          <a:p>
            <a:pPr indent="0" marL="0">
              <a:buNone/>
            </a:pPr>
            <a:r>
              <a:rPr lang="en-US" sz="1050" dirty="0">
                <a:solidFill>
                  <a:srgbClr val="607D8B"/>
                </a:solidFill>
              </a:rPr>
              <a:t>Action: Audit fiber optic service quality and satisfaction scores. Consider targeted retention offers for Fiber users.</a:t>
            </a:r>
            <a:endParaRPr lang="en-US" sz="1050" dirty="0"/>
          </a:p>
        </p:txBody>
      </p:sp>
      <p:sp>
        <p:nvSpPr>
          <p:cNvPr id="27" name="Shape 25"/>
          <p:cNvSpPr/>
          <p:nvPr/>
        </p:nvSpPr>
        <p:spPr>
          <a:xfrm>
            <a:off x="5760720" y="2935224"/>
            <a:ext cx="2926080" cy="365760"/>
          </a:xfrm>
          <a:prstGeom prst="rect">
            <a:avLst/>
          </a:prstGeom>
          <a:solidFill>
            <a:srgbClr val="ECEFF1"/>
          </a:solidFill>
          <a:ln w="12700">
            <a:solidFill>
              <a:srgbClr val="D0D7DE"/>
            </a:solidFill>
            <a:prstDash val="solid"/>
          </a:ln>
        </p:spPr>
      </p:sp>
      <p:sp>
        <p:nvSpPr>
          <p:cNvPr id="28" name="Text 26"/>
          <p:cNvSpPr/>
          <p:nvPr/>
        </p:nvSpPr>
        <p:spPr>
          <a:xfrm>
            <a:off x="5806440" y="2953512"/>
            <a:ext cx="2834640" cy="347472"/>
          </a:xfrm>
          <a:prstGeom prst="rect">
            <a:avLst/>
          </a:prstGeom>
          <a:noFill/>
          <a:ln/>
        </p:spPr>
        <p:txBody>
          <a:bodyPr wrap="square" lIns="0" tIns="0" rIns="0" bIns="0" rtlCol="0" anchor="ctr"/>
          <a:lstStyle/>
          <a:p>
            <a:pPr indent="0" marL="0">
              <a:buNone/>
            </a:pPr>
            <a:r>
              <a:rPr lang="en-US" sz="1000" dirty="0">
                <a:solidFill>
                  <a:srgbClr val="0D1B2A"/>
                </a:solidFill>
              </a:rPr>
              <a:t>🎯 Fiber optic internet subscribers</a:t>
            </a:r>
            <a:endParaRPr lang="en-US" sz="1000" dirty="0"/>
          </a:p>
        </p:txBody>
      </p:sp>
      <p:sp>
        <p:nvSpPr>
          <p:cNvPr id="29" name="Shape 27"/>
          <p:cNvSpPr/>
          <p:nvPr/>
        </p:nvSpPr>
        <p:spPr>
          <a:xfrm>
            <a:off x="5760720" y="3392424"/>
            <a:ext cx="2926080" cy="365760"/>
          </a:xfrm>
          <a:prstGeom prst="rect">
            <a:avLst/>
          </a:prstGeom>
          <a:solidFill>
            <a:srgbClr val="1565C0"/>
          </a:solidFill>
          <a:ln w="12700">
            <a:solidFill>
              <a:srgbClr val="1565C0"/>
            </a:solidFill>
            <a:prstDash val="solid"/>
          </a:ln>
        </p:spPr>
      </p:sp>
      <p:sp>
        <p:nvSpPr>
          <p:cNvPr id="30" name="Text 28"/>
          <p:cNvSpPr/>
          <p:nvPr/>
        </p:nvSpPr>
        <p:spPr>
          <a:xfrm>
            <a:off x="5806440" y="3410712"/>
            <a:ext cx="2834640" cy="347472"/>
          </a:xfrm>
          <a:prstGeom prst="rect">
            <a:avLst/>
          </a:prstGeom>
          <a:noFill/>
          <a:ln/>
        </p:spPr>
        <p:txBody>
          <a:bodyPr wrap="square" lIns="0" tIns="0" rIns="0" bIns="0" rtlCol="0" anchor="ctr"/>
          <a:lstStyle/>
          <a:p>
            <a:pPr indent="0" marL="0">
              <a:buNone/>
            </a:pPr>
            <a:r>
              <a:rPr lang="en-US" sz="1000" dirty="0">
                <a:solidFill>
                  <a:srgbClr val="FFFFFF"/>
                </a:solidFill>
              </a:rPr>
              <a:t>📈 Reduce Fiber churn from 41.9% → 30%</a:t>
            </a:r>
            <a:endParaRPr lang="en-US" sz="1000" dirty="0"/>
          </a:p>
        </p:txBody>
      </p:sp>
      <p:sp>
        <p:nvSpPr>
          <p:cNvPr id="31" name="Shape 29"/>
          <p:cNvSpPr/>
          <p:nvPr/>
        </p:nvSpPr>
        <p:spPr>
          <a:xfrm>
            <a:off x="320040" y="3931920"/>
            <a:ext cx="8503920" cy="960120"/>
          </a:xfrm>
          <a:prstGeom prst="rect">
            <a:avLst/>
          </a:prstGeom>
          <a:solidFill>
            <a:srgbClr val="FFFFFF"/>
          </a:solidFill>
          <a:ln w="12700">
            <a:solidFill>
              <a:srgbClr val="D0D7DE"/>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320040" y="3931920"/>
            <a:ext cx="1371600" cy="960120"/>
          </a:xfrm>
          <a:prstGeom prst="rect">
            <a:avLst/>
          </a:prstGeom>
          <a:solidFill>
            <a:srgbClr val="2E7D32"/>
          </a:solidFill>
          <a:ln w="12700">
            <a:solidFill>
              <a:srgbClr val="2E7D32"/>
            </a:solidFill>
            <a:prstDash val="solid"/>
          </a:ln>
        </p:spPr>
      </p:sp>
      <p:sp>
        <p:nvSpPr>
          <p:cNvPr id="33" name="Text 31"/>
          <p:cNvSpPr/>
          <p:nvPr/>
        </p:nvSpPr>
        <p:spPr>
          <a:xfrm>
            <a:off x="320040" y="404164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Priority 4</a:t>
            </a:r>
            <a:endParaRPr lang="en-US" sz="1100" dirty="0"/>
          </a:p>
        </p:txBody>
      </p:sp>
      <p:sp>
        <p:nvSpPr>
          <p:cNvPr id="34" name="Text 32"/>
          <p:cNvSpPr/>
          <p:nvPr/>
        </p:nvSpPr>
        <p:spPr>
          <a:xfrm>
            <a:off x="1783080" y="4005072"/>
            <a:ext cx="3657600" cy="347472"/>
          </a:xfrm>
          <a:prstGeom prst="rect">
            <a:avLst/>
          </a:prstGeom>
          <a:noFill/>
          <a:ln/>
        </p:spPr>
        <p:txBody>
          <a:bodyPr wrap="square" lIns="0" tIns="0" rIns="0" bIns="0" rtlCol="0" anchor="ctr"/>
          <a:lstStyle/>
          <a:p>
            <a:pPr indent="0" marL="0">
              <a:buNone/>
            </a:pPr>
            <a:r>
              <a:rPr lang="en-US" sz="1300" b="1" dirty="0">
                <a:solidFill>
                  <a:srgbClr val="0D1B2A"/>
                </a:solidFill>
              </a:rPr>
              <a:t>Payment Method Simplification</a:t>
            </a:r>
            <a:endParaRPr lang="en-US" sz="1300" dirty="0"/>
          </a:p>
        </p:txBody>
      </p:sp>
      <p:sp>
        <p:nvSpPr>
          <p:cNvPr id="35" name="Text 33"/>
          <p:cNvSpPr/>
          <p:nvPr/>
        </p:nvSpPr>
        <p:spPr>
          <a:xfrm>
            <a:off x="1783080" y="4370832"/>
            <a:ext cx="3840480" cy="457200"/>
          </a:xfrm>
          <a:prstGeom prst="rect">
            <a:avLst/>
          </a:prstGeom>
          <a:noFill/>
          <a:ln/>
        </p:spPr>
        <p:txBody>
          <a:bodyPr wrap="square" lIns="0" tIns="0" rIns="0" bIns="0" rtlCol="0" anchor="ctr"/>
          <a:lstStyle/>
          <a:p>
            <a:pPr indent="0" marL="0">
              <a:buNone/>
            </a:pPr>
            <a:r>
              <a:rPr lang="en-US" sz="1050" dirty="0">
                <a:solidFill>
                  <a:srgbClr val="607D8B"/>
                </a:solidFill>
              </a:rPr>
              <a:t>Action: Nudge electronic check users to auto-pay via credit card or bank transfer with a small monthly credit.</a:t>
            </a:r>
            <a:endParaRPr lang="en-US" sz="1050" dirty="0"/>
          </a:p>
        </p:txBody>
      </p:sp>
      <p:sp>
        <p:nvSpPr>
          <p:cNvPr id="36" name="Shape 34"/>
          <p:cNvSpPr/>
          <p:nvPr/>
        </p:nvSpPr>
        <p:spPr>
          <a:xfrm>
            <a:off x="5760720" y="3986784"/>
            <a:ext cx="2926080" cy="365760"/>
          </a:xfrm>
          <a:prstGeom prst="rect">
            <a:avLst/>
          </a:prstGeom>
          <a:solidFill>
            <a:srgbClr val="ECEFF1"/>
          </a:solidFill>
          <a:ln w="12700">
            <a:solidFill>
              <a:srgbClr val="D0D7DE"/>
            </a:solidFill>
            <a:prstDash val="solid"/>
          </a:ln>
        </p:spPr>
      </p:sp>
      <p:sp>
        <p:nvSpPr>
          <p:cNvPr id="37" name="Text 35"/>
          <p:cNvSpPr/>
          <p:nvPr/>
        </p:nvSpPr>
        <p:spPr>
          <a:xfrm>
            <a:off x="5806440" y="4005072"/>
            <a:ext cx="2834640" cy="347472"/>
          </a:xfrm>
          <a:prstGeom prst="rect">
            <a:avLst/>
          </a:prstGeom>
          <a:noFill/>
          <a:ln/>
        </p:spPr>
        <p:txBody>
          <a:bodyPr wrap="square" lIns="0" tIns="0" rIns="0" bIns="0" rtlCol="0" anchor="ctr"/>
          <a:lstStyle/>
          <a:p>
            <a:pPr indent="0" marL="0">
              <a:buNone/>
            </a:pPr>
            <a:r>
              <a:rPr lang="en-US" sz="1000" dirty="0">
                <a:solidFill>
                  <a:srgbClr val="0D1B2A"/>
                </a:solidFill>
              </a:rPr>
              <a:t>🎯 Electronic check payment customers</a:t>
            </a:r>
            <a:endParaRPr lang="en-US" sz="1000" dirty="0"/>
          </a:p>
        </p:txBody>
      </p:sp>
      <p:sp>
        <p:nvSpPr>
          <p:cNvPr id="38" name="Shape 36"/>
          <p:cNvSpPr/>
          <p:nvPr/>
        </p:nvSpPr>
        <p:spPr>
          <a:xfrm>
            <a:off x="5760720" y="4443984"/>
            <a:ext cx="2926080" cy="365760"/>
          </a:xfrm>
          <a:prstGeom prst="rect">
            <a:avLst/>
          </a:prstGeom>
          <a:solidFill>
            <a:srgbClr val="2E7D32"/>
          </a:solidFill>
          <a:ln w="12700">
            <a:solidFill>
              <a:srgbClr val="2E7D32"/>
            </a:solidFill>
            <a:prstDash val="solid"/>
          </a:ln>
        </p:spPr>
      </p:sp>
      <p:sp>
        <p:nvSpPr>
          <p:cNvPr id="39" name="Text 37"/>
          <p:cNvSpPr/>
          <p:nvPr/>
        </p:nvSpPr>
        <p:spPr>
          <a:xfrm>
            <a:off x="5806440" y="4462272"/>
            <a:ext cx="2834640" cy="347472"/>
          </a:xfrm>
          <a:prstGeom prst="rect">
            <a:avLst/>
          </a:prstGeom>
          <a:noFill/>
          <a:ln/>
        </p:spPr>
        <p:txBody>
          <a:bodyPr wrap="square" lIns="0" tIns="0" rIns="0" bIns="0" rtlCol="0" anchor="ctr"/>
          <a:lstStyle/>
          <a:p>
            <a:pPr indent="0" marL="0">
              <a:buNone/>
            </a:pPr>
            <a:r>
              <a:rPr lang="en-US" sz="1000" dirty="0">
                <a:solidFill>
                  <a:srgbClr val="FFFFFF"/>
                </a:solidFill>
              </a:rPr>
              <a:t>📈 Reduce payment-related churn by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CD4"/>
          </a:solidFill>
          <a:ln w="12700">
            <a:solidFill>
              <a:srgbClr val="00BCD4"/>
            </a:solidFill>
            <a:prstDash val="solid"/>
          </a:ln>
        </p:spPr>
      </p:sp>
      <p:sp>
        <p:nvSpPr>
          <p:cNvPr id="3" name="Text 1"/>
          <p:cNvSpPr/>
          <p:nvPr/>
        </p:nvSpPr>
        <p:spPr>
          <a:xfrm>
            <a:off x="502920" y="320040"/>
            <a:ext cx="8229600"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Project Summary</a:t>
            </a:r>
            <a:endParaRPr lang="en-US" sz="3200" dirty="0"/>
          </a:p>
        </p:txBody>
      </p:sp>
      <p:sp>
        <p:nvSpPr>
          <p:cNvPr id="4" name="Text 2"/>
          <p:cNvSpPr/>
          <p:nvPr/>
        </p:nvSpPr>
        <p:spPr>
          <a:xfrm>
            <a:off x="502920" y="914400"/>
            <a:ext cx="6400800" cy="365760"/>
          </a:xfrm>
          <a:prstGeom prst="rect">
            <a:avLst/>
          </a:prstGeom>
          <a:noFill/>
          <a:ln/>
        </p:spPr>
        <p:txBody>
          <a:bodyPr wrap="square" lIns="0" tIns="0" rIns="0" bIns="0" rtlCol="0" anchor="ctr"/>
          <a:lstStyle/>
          <a:p>
            <a:pPr indent="0" marL="0">
              <a:buNone/>
            </a:pPr>
            <a:r>
              <a:rPr lang="en-US" sz="1500" i="1" dirty="0">
                <a:solidFill>
                  <a:srgbClr val="00BCD4"/>
                </a:solidFill>
              </a:rPr>
              <a:t>What this project demonstrates for your resume</a:t>
            </a:r>
            <a:endParaRPr lang="en-US" sz="1500" dirty="0"/>
          </a:p>
        </p:txBody>
      </p:sp>
      <p:sp>
        <p:nvSpPr>
          <p:cNvPr id="5" name="Shape 3"/>
          <p:cNvSpPr/>
          <p:nvPr/>
        </p:nvSpPr>
        <p:spPr>
          <a:xfrm>
            <a:off x="502920" y="1463040"/>
            <a:ext cx="8321040" cy="566928"/>
          </a:xfrm>
          <a:prstGeom prst="rect">
            <a:avLst/>
          </a:prstGeom>
          <a:solidFill>
            <a:srgbClr val="1A2E45"/>
          </a:solidFill>
          <a:ln w="12700">
            <a:solidFill>
              <a:srgbClr val="00BCD4"/>
            </a:solidFill>
            <a:prstDash val="solid"/>
          </a:ln>
        </p:spPr>
      </p:sp>
      <p:sp>
        <p:nvSpPr>
          <p:cNvPr id="6" name="Text 4"/>
          <p:cNvSpPr/>
          <p:nvPr/>
        </p:nvSpPr>
        <p:spPr>
          <a:xfrm>
            <a:off x="594360" y="1508760"/>
            <a:ext cx="1371600" cy="457200"/>
          </a:xfrm>
          <a:prstGeom prst="rect">
            <a:avLst/>
          </a:prstGeom>
          <a:noFill/>
          <a:ln/>
        </p:spPr>
        <p:txBody>
          <a:bodyPr wrap="square" lIns="0" tIns="0" rIns="0" bIns="0" rtlCol="0" anchor="ctr"/>
          <a:lstStyle/>
          <a:p>
            <a:pPr indent="0" marL="0">
              <a:buNone/>
            </a:pPr>
            <a:r>
              <a:rPr lang="en-US" sz="1300" b="1" dirty="0">
                <a:solidFill>
                  <a:srgbClr val="00BCD4"/>
                </a:solidFill>
              </a:rPr>
              <a:t>Python</a:t>
            </a:r>
            <a:endParaRPr lang="en-US" sz="1300" dirty="0"/>
          </a:p>
        </p:txBody>
      </p:sp>
      <p:sp>
        <p:nvSpPr>
          <p:cNvPr id="7" name="Text 5"/>
          <p:cNvSpPr/>
          <p:nvPr/>
        </p:nvSpPr>
        <p:spPr>
          <a:xfrm>
            <a:off x="2011680" y="1508760"/>
            <a:ext cx="6583680" cy="457200"/>
          </a:xfrm>
          <a:prstGeom prst="rect">
            <a:avLst/>
          </a:prstGeom>
          <a:noFill/>
          <a:ln/>
        </p:spPr>
        <p:txBody>
          <a:bodyPr wrap="square" lIns="0" tIns="0" rIns="0" bIns="0" rtlCol="0" anchor="ctr"/>
          <a:lstStyle/>
          <a:p>
            <a:pPr indent="0" marL="0">
              <a:buNone/>
            </a:pPr>
            <a:r>
              <a:rPr lang="en-US" sz="1200" dirty="0">
                <a:solidFill>
                  <a:srgbClr val="FFFFFF"/>
                </a:solidFill>
              </a:rPr>
              <a:t>→  Data cleaning, feature engineering, EDA with Pandas, Matplotlib &amp; Seaborn</a:t>
            </a:r>
            <a:endParaRPr lang="en-US" sz="1200" dirty="0"/>
          </a:p>
        </p:txBody>
      </p:sp>
      <p:sp>
        <p:nvSpPr>
          <p:cNvPr id="8" name="Shape 6"/>
          <p:cNvSpPr/>
          <p:nvPr/>
        </p:nvSpPr>
        <p:spPr>
          <a:xfrm>
            <a:off x="502920" y="2139696"/>
            <a:ext cx="8321040" cy="566928"/>
          </a:xfrm>
          <a:prstGeom prst="rect">
            <a:avLst/>
          </a:prstGeom>
          <a:solidFill>
            <a:srgbClr val="0D1B2A"/>
          </a:solidFill>
          <a:ln w="12700">
            <a:solidFill>
              <a:srgbClr val="00BCD4"/>
            </a:solidFill>
            <a:prstDash val="solid"/>
          </a:ln>
        </p:spPr>
      </p:sp>
      <p:sp>
        <p:nvSpPr>
          <p:cNvPr id="9" name="Text 7"/>
          <p:cNvSpPr/>
          <p:nvPr/>
        </p:nvSpPr>
        <p:spPr>
          <a:xfrm>
            <a:off x="594360" y="2185416"/>
            <a:ext cx="1371600" cy="457200"/>
          </a:xfrm>
          <a:prstGeom prst="rect">
            <a:avLst/>
          </a:prstGeom>
          <a:noFill/>
          <a:ln/>
        </p:spPr>
        <p:txBody>
          <a:bodyPr wrap="square" lIns="0" tIns="0" rIns="0" bIns="0" rtlCol="0" anchor="ctr"/>
          <a:lstStyle/>
          <a:p>
            <a:pPr indent="0" marL="0">
              <a:buNone/>
            </a:pPr>
            <a:r>
              <a:rPr lang="en-US" sz="1300" b="1" dirty="0">
                <a:solidFill>
                  <a:srgbClr val="00BCD4"/>
                </a:solidFill>
              </a:rPr>
              <a:t>SQL</a:t>
            </a:r>
            <a:endParaRPr lang="en-US" sz="1300" dirty="0"/>
          </a:p>
        </p:txBody>
      </p:sp>
      <p:sp>
        <p:nvSpPr>
          <p:cNvPr id="10" name="Text 8"/>
          <p:cNvSpPr/>
          <p:nvPr/>
        </p:nvSpPr>
        <p:spPr>
          <a:xfrm>
            <a:off x="2011680" y="2185416"/>
            <a:ext cx="6583680" cy="457200"/>
          </a:xfrm>
          <a:prstGeom prst="rect">
            <a:avLst/>
          </a:prstGeom>
          <a:noFill/>
          <a:ln/>
        </p:spPr>
        <p:txBody>
          <a:bodyPr wrap="square" lIns="0" tIns="0" rIns="0" bIns="0" rtlCol="0" anchor="ctr"/>
          <a:lstStyle/>
          <a:p>
            <a:pPr indent="0" marL="0">
              <a:buNone/>
            </a:pPr>
            <a:r>
              <a:rPr lang="en-US" sz="1200" dirty="0">
                <a:solidFill>
                  <a:srgbClr val="FFFFFF"/>
                </a:solidFill>
              </a:rPr>
              <a:t>→  10+ business queries — churn rates, segmentation, revenue analysis, risk scoring</a:t>
            </a:r>
            <a:endParaRPr lang="en-US" sz="1200" dirty="0"/>
          </a:p>
        </p:txBody>
      </p:sp>
      <p:sp>
        <p:nvSpPr>
          <p:cNvPr id="11" name="Shape 9"/>
          <p:cNvSpPr/>
          <p:nvPr/>
        </p:nvSpPr>
        <p:spPr>
          <a:xfrm>
            <a:off x="502920" y="2816352"/>
            <a:ext cx="8321040" cy="566928"/>
          </a:xfrm>
          <a:prstGeom prst="rect">
            <a:avLst/>
          </a:prstGeom>
          <a:solidFill>
            <a:srgbClr val="1A2E45"/>
          </a:solidFill>
          <a:ln w="12700">
            <a:solidFill>
              <a:srgbClr val="00BCD4"/>
            </a:solidFill>
            <a:prstDash val="solid"/>
          </a:ln>
        </p:spPr>
      </p:sp>
      <p:sp>
        <p:nvSpPr>
          <p:cNvPr id="12" name="Text 10"/>
          <p:cNvSpPr/>
          <p:nvPr/>
        </p:nvSpPr>
        <p:spPr>
          <a:xfrm>
            <a:off x="594360" y="2862072"/>
            <a:ext cx="1371600" cy="457200"/>
          </a:xfrm>
          <a:prstGeom prst="rect">
            <a:avLst/>
          </a:prstGeom>
          <a:noFill/>
          <a:ln/>
        </p:spPr>
        <p:txBody>
          <a:bodyPr wrap="square" lIns="0" tIns="0" rIns="0" bIns="0" rtlCol="0" anchor="ctr"/>
          <a:lstStyle/>
          <a:p>
            <a:pPr indent="0" marL="0">
              <a:buNone/>
            </a:pPr>
            <a:r>
              <a:rPr lang="en-US" sz="1300" b="1" dirty="0">
                <a:solidFill>
                  <a:srgbClr val="00BCD4"/>
                </a:solidFill>
              </a:rPr>
              <a:t>Power BI</a:t>
            </a:r>
            <a:endParaRPr lang="en-US" sz="1300" dirty="0"/>
          </a:p>
        </p:txBody>
      </p:sp>
      <p:sp>
        <p:nvSpPr>
          <p:cNvPr id="13" name="Text 11"/>
          <p:cNvSpPr/>
          <p:nvPr/>
        </p:nvSpPr>
        <p:spPr>
          <a:xfrm>
            <a:off x="2011680" y="2862072"/>
            <a:ext cx="6583680" cy="457200"/>
          </a:xfrm>
          <a:prstGeom prst="rect">
            <a:avLst/>
          </a:prstGeom>
          <a:noFill/>
          <a:ln/>
        </p:spPr>
        <p:txBody>
          <a:bodyPr wrap="square" lIns="0" tIns="0" rIns="0" bIns="0" rtlCol="0" anchor="ctr"/>
          <a:lstStyle/>
          <a:p>
            <a:pPr indent="0" marL="0">
              <a:buNone/>
            </a:pPr>
            <a:r>
              <a:rPr lang="en-US" sz="1200" dirty="0">
                <a:solidFill>
                  <a:srgbClr val="FFFFFF"/>
                </a:solidFill>
              </a:rPr>
              <a:t>→  4-page dashboard with DAX measures, slicers, KPI cards &amp; revenue visuals</a:t>
            </a:r>
            <a:endParaRPr lang="en-US" sz="1200" dirty="0"/>
          </a:p>
        </p:txBody>
      </p:sp>
      <p:sp>
        <p:nvSpPr>
          <p:cNvPr id="14" name="Shape 12"/>
          <p:cNvSpPr/>
          <p:nvPr/>
        </p:nvSpPr>
        <p:spPr>
          <a:xfrm>
            <a:off x="502920" y="3493008"/>
            <a:ext cx="8321040" cy="566928"/>
          </a:xfrm>
          <a:prstGeom prst="rect">
            <a:avLst/>
          </a:prstGeom>
          <a:solidFill>
            <a:srgbClr val="0D1B2A"/>
          </a:solidFill>
          <a:ln w="12700">
            <a:solidFill>
              <a:srgbClr val="00BCD4"/>
            </a:solidFill>
            <a:prstDash val="solid"/>
          </a:ln>
        </p:spPr>
      </p:sp>
      <p:sp>
        <p:nvSpPr>
          <p:cNvPr id="15" name="Text 13"/>
          <p:cNvSpPr/>
          <p:nvPr/>
        </p:nvSpPr>
        <p:spPr>
          <a:xfrm>
            <a:off x="594360" y="3538728"/>
            <a:ext cx="1371600" cy="457200"/>
          </a:xfrm>
          <a:prstGeom prst="rect">
            <a:avLst/>
          </a:prstGeom>
          <a:noFill/>
          <a:ln/>
        </p:spPr>
        <p:txBody>
          <a:bodyPr wrap="square" lIns="0" tIns="0" rIns="0" bIns="0" rtlCol="0" anchor="ctr"/>
          <a:lstStyle/>
          <a:p>
            <a:pPr indent="0" marL="0">
              <a:buNone/>
            </a:pPr>
            <a:r>
              <a:rPr lang="en-US" sz="1300" b="1" dirty="0">
                <a:solidFill>
                  <a:srgbClr val="00BCD4"/>
                </a:solidFill>
              </a:rPr>
              <a:t>Business Thinking</a:t>
            </a:r>
            <a:endParaRPr lang="en-US" sz="1300" dirty="0"/>
          </a:p>
        </p:txBody>
      </p:sp>
      <p:sp>
        <p:nvSpPr>
          <p:cNvPr id="16" name="Text 14"/>
          <p:cNvSpPr/>
          <p:nvPr/>
        </p:nvSpPr>
        <p:spPr>
          <a:xfrm>
            <a:off x="2011680" y="3538728"/>
            <a:ext cx="6583680" cy="457200"/>
          </a:xfrm>
          <a:prstGeom prst="rect">
            <a:avLst/>
          </a:prstGeom>
          <a:noFill/>
          <a:ln/>
        </p:spPr>
        <p:txBody>
          <a:bodyPr wrap="square" lIns="0" tIns="0" rIns="0" bIns="0" rtlCol="0" anchor="ctr"/>
          <a:lstStyle/>
          <a:p>
            <a:pPr indent="0" marL="0">
              <a:buNone/>
            </a:pPr>
            <a:r>
              <a:rPr lang="en-US" sz="1200" dirty="0">
                <a:solidFill>
                  <a:srgbClr val="FFFFFF"/>
                </a:solidFill>
              </a:rPr>
              <a:t>→  Translated data into 4 actionable business recommendations with expected outcomes</a:t>
            </a:r>
            <a:endParaRPr lang="en-US" sz="1200" dirty="0"/>
          </a:p>
        </p:txBody>
      </p:sp>
      <p:sp>
        <p:nvSpPr>
          <p:cNvPr id="17" name="Shape 15"/>
          <p:cNvSpPr/>
          <p:nvPr/>
        </p:nvSpPr>
        <p:spPr>
          <a:xfrm>
            <a:off x="502920" y="4169664"/>
            <a:ext cx="8321040" cy="566928"/>
          </a:xfrm>
          <a:prstGeom prst="rect">
            <a:avLst/>
          </a:prstGeom>
          <a:solidFill>
            <a:srgbClr val="1A2E45"/>
          </a:solidFill>
          <a:ln w="12700">
            <a:solidFill>
              <a:srgbClr val="00BCD4"/>
            </a:solidFill>
            <a:prstDash val="solid"/>
          </a:ln>
        </p:spPr>
      </p:sp>
      <p:sp>
        <p:nvSpPr>
          <p:cNvPr id="18" name="Text 16"/>
          <p:cNvSpPr/>
          <p:nvPr/>
        </p:nvSpPr>
        <p:spPr>
          <a:xfrm>
            <a:off x="594360" y="4215384"/>
            <a:ext cx="1371600" cy="457200"/>
          </a:xfrm>
          <a:prstGeom prst="rect">
            <a:avLst/>
          </a:prstGeom>
          <a:noFill/>
          <a:ln/>
        </p:spPr>
        <p:txBody>
          <a:bodyPr wrap="square" lIns="0" tIns="0" rIns="0" bIns="0" rtlCol="0" anchor="ctr"/>
          <a:lstStyle/>
          <a:p>
            <a:pPr indent="0" marL="0">
              <a:buNone/>
            </a:pPr>
            <a:r>
              <a:rPr lang="en-US" sz="1300" b="1" dirty="0">
                <a:solidFill>
                  <a:srgbClr val="00BCD4"/>
                </a:solidFill>
              </a:rPr>
              <a:t>Communication</a:t>
            </a:r>
            <a:endParaRPr lang="en-US" sz="1300" dirty="0"/>
          </a:p>
        </p:txBody>
      </p:sp>
      <p:sp>
        <p:nvSpPr>
          <p:cNvPr id="19" name="Text 17"/>
          <p:cNvSpPr/>
          <p:nvPr/>
        </p:nvSpPr>
        <p:spPr>
          <a:xfrm>
            <a:off x="2011680" y="4215384"/>
            <a:ext cx="6583680" cy="457200"/>
          </a:xfrm>
          <a:prstGeom prst="rect">
            <a:avLst/>
          </a:prstGeom>
          <a:noFill/>
          <a:ln/>
        </p:spPr>
        <p:txBody>
          <a:bodyPr wrap="square" lIns="0" tIns="0" rIns="0" bIns="0" rtlCol="0" anchor="ctr"/>
          <a:lstStyle/>
          <a:p>
            <a:pPr indent="0" marL="0">
              <a:buNone/>
            </a:pPr>
            <a:r>
              <a:rPr lang="en-US" sz="1200" dirty="0">
                <a:solidFill>
                  <a:srgbClr val="FFFFFF"/>
                </a:solidFill>
              </a:rPr>
              <a:t>→  Presented findings as a structured story: problem → analysis → insight → action</a:t>
            </a:r>
            <a:endParaRPr lang="en-US" sz="1200" dirty="0"/>
          </a:p>
        </p:txBody>
      </p:sp>
      <p:sp>
        <p:nvSpPr>
          <p:cNvPr id="20" name="Shape 18"/>
          <p:cNvSpPr/>
          <p:nvPr/>
        </p:nvSpPr>
        <p:spPr>
          <a:xfrm>
            <a:off x="164592" y="4846320"/>
            <a:ext cx="8979408" cy="54864"/>
          </a:xfrm>
          <a:prstGeom prst="rect">
            <a:avLst/>
          </a:prstGeom>
          <a:solidFill>
            <a:srgbClr val="00BCD4"/>
          </a:solidFill>
          <a:ln w="12700">
            <a:solidFill>
              <a:srgbClr val="00BCD4"/>
            </a:solidFill>
            <a:prstDash val="solid"/>
          </a:ln>
        </p:spPr>
      </p:sp>
      <p:sp>
        <p:nvSpPr>
          <p:cNvPr id="21" name="Text 19"/>
          <p:cNvSpPr/>
          <p:nvPr/>
        </p:nvSpPr>
        <p:spPr>
          <a:xfrm>
            <a:off x="365760" y="4882896"/>
            <a:ext cx="8503920" cy="228600"/>
          </a:xfrm>
          <a:prstGeom prst="rect">
            <a:avLst/>
          </a:prstGeom>
          <a:noFill/>
          <a:ln/>
        </p:spPr>
        <p:txBody>
          <a:bodyPr wrap="square" lIns="0" tIns="0" rIns="0" bIns="0" rtlCol="0" anchor="ctr"/>
          <a:lstStyle/>
          <a:p>
            <a:pPr algn="ctr" indent="0" marL="0">
              <a:buNone/>
            </a:pPr>
            <a:r>
              <a:rPr lang="en-US" sz="950" dirty="0">
                <a:solidFill>
                  <a:srgbClr val="78909C"/>
                </a:solidFill>
              </a:rPr>
              <a:t>Dataset: IBM Telco Churn (Kaggle)  |  Tools: Python · SQL · Power BI  |  Project Type: End-to-End Data Analyst Portfolio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dc:title>
  <dc:subject>PptxGenJS Presentation</dc:subject>
  <dc:creator>PptxGenJS</dc:creator>
  <cp:lastModifiedBy>PptxGenJS</cp:lastModifiedBy>
  <cp:revision>1</cp:revision>
  <dcterms:created xsi:type="dcterms:W3CDTF">2026-04-18T15:48:47Z</dcterms:created>
  <dcterms:modified xsi:type="dcterms:W3CDTF">2026-04-18T15:48:47Z</dcterms:modified>
</cp:coreProperties>
</file>